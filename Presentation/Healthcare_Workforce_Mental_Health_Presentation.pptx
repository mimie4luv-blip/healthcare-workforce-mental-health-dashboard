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8" r:id="rId2"/>
    <p:sldId id="259" r:id="rId3"/>
    <p:sldId id="260" r:id="rId4"/>
    <p:sldId id="268" r:id="rId5"/>
    <p:sldId id="261" r:id="rId6"/>
    <p:sldId id="262" r:id="rId7"/>
    <p:sldId id="263" r:id="rId8"/>
    <p:sldId id="264" r:id="rId9"/>
    <p:sldId id="265" r:id="rId10"/>
    <p:sldId id="266" r:id="rId11"/>
    <p:sldId id="267"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3846" autoAdjust="0"/>
    <p:restoredTop sz="94660"/>
  </p:normalViewPr>
  <p:slideViewPr>
    <p:cSldViewPr snapToGrid="0">
      <p:cViewPr varScale="1">
        <p:scale>
          <a:sx n="79" d="100"/>
          <a:sy n="79" d="100"/>
        </p:scale>
        <p:origin x="42" y="59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6/10/2026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6/10/2026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6/10/2026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846CE7D5-CF57-46EF-B807-FDD0502418D4}" type="datetimeFigureOut">
              <a:rPr lang="en-US" smtClean="0"/>
              <a:t>6/10/2026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846CE7D5-CF57-46EF-B807-FDD0502418D4}" type="datetimeFigureOut">
              <a:rPr lang="en-US" smtClean="0"/>
              <a:t>6/10/2026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846CE7D5-CF57-46EF-B807-FDD0502418D4}" type="datetimeFigureOut">
              <a:rPr lang="en-US" smtClean="0"/>
              <a:t>6/10/2026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6/10/2026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6/10/2026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6/10/2026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6/10/2026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6CE7D5-CF57-46EF-B807-FDD0502418D4}" type="datetimeFigureOut">
              <a:rPr lang="en-US" smtClean="0"/>
              <a:t>6/10/2026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6/10/2026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8104D"/>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B300744-4070-2BFE-FA39-60A3F0EF1936}"/>
              </a:ext>
            </a:extLst>
          </p:cNvPr>
          <p:cNvSpPr/>
          <p:nvPr/>
        </p:nvSpPr>
        <p:spPr>
          <a:xfrm>
            <a:off x="-16962" y="13930"/>
            <a:ext cx="859172" cy="6885859"/>
          </a:xfrm>
          <a:prstGeom prst="rect">
            <a:avLst/>
          </a:prstGeom>
          <a:solidFill>
            <a:srgbClr val="09115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C2024389-CC57-8D1E-FD9F-D81283781495}"/>
              </a:ext>
            </a:extLst>
          </p:cNvPr>
          <p:cNvSpPr/>
          <p:nvPr/>
        </p:nvSpPr>
        <p:spPr>
          <a:xfrm>
            <a:off x="890163" y="28984"/>
            <a:ext cx="11346980" cy="6797000"/>
          </a:xfrm>
          <a:prstGeom prst="roundRect">
            <a:avLst/>
          </a:prstGeom>
          <a:solidFill>
            <a:srgbClr val="081354"/>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2400" b="1" dirty="0">
                <a:latin typeface="Segoe UI"/>
                <a:ea typeface="+mn-lt"/>
                <a:cs typeface="Segoe UI"/>
              </a:rPr>
              <a:t>                        												</a:t>
            </a:r>
          </a:p>
          <a:p>
            <a:pPr lvl="1"/>
            <a:r>
              <a:rPr lang="en-US" sz="2400" b="1" dirty="0">
                <a:latin typeface="Segoe UI"/>
                <a:ea typeface="+mn-lt"/>
                <a:cs typeface="Segoe UI"/>
              </a:rPr>
              <a:t> Healthcare Workforce </a:t>
            </a:r>
          </a:p>
          <a:p>
            <a:pPr lvl="1"/>
            <a:r>
              <a:rPr lang="en-US" sz="2400" b="1" dirty="0">
                <a:latin typeface="Segoe UI"/>
                <a:ea typeface="+mn-lt"/>
                <a:cs typeface="Segoe UI"/>
              </a:rPr>
              <a:t> Mental Health Dashboard</a:t>
            </a:r>
            <a:br>
              <a:rPr lang="en-US" sz="2400" b="1" dirty="0">
                <a:latin typeface="Segoe UI"/>
                <a:ea typeface="+mn-lt"/>
                <a:cs typeface="Segoe UI"/>
              </a:rPr>
            </a:br>
            <a:r>
              <a:rPr lang="en-US" sz="4000" b="1" dirty="0">
                <a:latin typeface="Segoe UI"/>
                <a:ea typeface="+mn-lt"/>
                <a:cs typeface="Segoe UI"/>
              </a:rPr>
              <a:t> </a:t>
            </a:r>
            <a:r>
              <a:rPr lang="en-US" sz="1600" b="1" dirty="0"/>
              <a:t>Stress, Burnout, Job Satisfaction and </a:t>
            </a:r>
            <a:br>
              <a:rPr lang="en-US" sz="1600" b="1" dirty="0"/>
            </a:br>
            <a:r>
              <a:rPr lang="en-US" sz="1600" b="1" dirty="0"/>
              <a:t>    Workforce Retention Analytics</a:t>
            </a:r>
            <a:br>
              <a:rPr lang="en-US" sz="1600" b="1" dirty="0"/>
            </a:br>
            <a:r>
              <a:rPr lang="en-US" sz="1600" b="1" dirty="0"/>
              <a:t>     </a:t>
            </a:r>
            <a:br>
              <a:rPr lang="en-US" sz="1600" b="1" u="sng" dirty="0"/>
            </a:br>
            <a:r>
              <a:rPr lang="en-US" sz="1600" b="1" u="sng" dirty="0"/>
              <a:t>             </a:t>
            </a:r>
            <a:r>
              <a:rPr lang="en-US" sz="1400" b="1" dirty="0">
                <a:solidFill>
                  <a:srgbClr val="FFC000"/>
                </a:solidFill>
              </a:rPr>
              <a:t>Prepared By</a:t>
            </a:r>
            <a:r>
              <a:rPr lang="en-US" sz="1400" b="1" dirty="0"/>
              <a:t>:</a:t>
            </a:r>
            <a:r>
              <a:rPr lang="en-US" sz="1400" dirty="0"/>
              <a:t> Mfoniso Isaac Udo    </a:t>
            </a:r>
            <a:br>
              <a:rPr lang="en-US" sz="1400" dirty="0"/>
            </a:br>
            <a:r>
              <a:rPr lang="en-US" sz="1400" dirty="0"/>
              <a:t> </a:t>
            </a:r>
            <a:br>
              <a:rPr lang="en-US" sz="1400" dirty="0"/>
            </a:br>
            <a:r>
              <a:rPr lang="en-US" sz="1400" dirty="0"/>
              <a:t> </a:t>
            </a:r>
            <a:br>
              <a:rPr lang="en-US" sz="1400" dirty="0"/>
            </a:br>
            <a:r>
              <a:rPr lang="en-US" sz="1400" dirty="0"/>
              <a:t>                          </a:t>
            </a:r>
          </a:p>
          <a:p>
            <a:pPr lvl="1"/>
            <a:r>
              <a:rPr lang="en-US" sz="1400" dirty="0"/>
              <a:t>                      </a:t>
            </a:r>
            <a:r>
              <a:rPr lang="en-US" sz="1600" b="1" dirty="0">
                <a:solidFill>
                  <a:srgbClr val="FFC000"/>
                </a:solidFill>
                <a:latin typeface="Segoe UI Black" panose="020B0A02040204020203" pitchFamily="34" charset="0"/>
                <a:ea typeface="Segoe UI Black" panose="020B0A02040204020203" pitchFamily="34" charset="0"/>
              </a:rPr>
              <a:t>Tools Used:</a:t>
            </a:r>
            <a:br>
              <a:rPr lang="en-US" sz="1600" b="1" dirty="0">
                <a:solidFill>
                  <a:srgbClr val="FFC000"/>
                </a:solidFill>
                <a:latin typeface="Segoe UI Black" panose="020B0A02040204020203" pitchFamily="34" charset="0"/>
                <a:ea typeface="Segoe UI Black" panose="020B0A02040204020203" pitchFamily="34" charset="0"/>
              </a:rPr>
            </a:br>
            <a:r>
              <a:rPr lang="en-US" sz="1600" b="1" dirty="0">
                <a:latin typeface="Segoe UI Black" panose="020B0A02040204020203" pitchFamily="34" charset="0"/>
                <a:ea typeface="Segoe UI Black" panose="020B0A02040204020203" pitchFamily="34" charset="0"/>
              </a:rPr>
              <a:t> </a:t>
            </a:r>
            <a:br>
              <a:rPr lang="en-US" sz="1400" dirty="0">
                <a:latin typeface="Segoe UI Black" panose="020B0A02040204020203" pitchFamily="34" charset="0"/>
                <a:ea typeface="Segoe UI Black" panose="020B0A02040204020203" pitchFamily="34" charset="0"/>
              </a:rPr>
            </a:br>
            <a:r>
              <a:rPr lang="en-US" sz="1400" dirty="0">
                <a:latin typeface="Segoe UI Black" panose="020B0A02040204020203" pitchFamily="34" charset="0"/>
                <a:ea typeface="Segoe UI Black" panose="020B0A02040204020203" pitchFamily="34" charset="0"/>
              </a:rPr>
              <a:t>                      Microsoft Excel</a:t>
            </a:r>
            <a:br>
              <a:rPr lang="en-US" sz="1400" dirty="0">
                <a:latin typeface="Segoe UI Black" panose="020B0A02040204020203" pitchFamily="34" charset="0"/>
                <a:ea typeface="Segoe UI Black" panose="020B0A02040204020203" pitchFamily="34" charset="0"/>
              </a:rPr>
            </a:br>
            <a:br>
              <a:rPr lang="en-US" sz="1400" dirty="0">
                <a:latin typeface="Segoe UI Black" panose="020B0A02040204020203" pitchFamily="34" charset="0"/>
                <a:ea typeface="Segoe UI Black" panose="020B0A02040204020203" pitchFamily="34" charset="0"/>
              </a:rPr>
            </a:br>
            <a:r>
              <a:rPr lang="en-US" sz="1400" dirty="0">
                <a:latin typeface="Segoe UI Black" panose="020B0A02040204020203" pitchFamily="34" charset="0"/>
                <a:ea typeface="Segoe UI Black" panose="020B0A02040204020203" pitchFamily="34" charset="0"/>
              </a:rPr>
              <a:t>                      SQL Server</a:t>
            </a:r>
            <a:br>
              <a:rPr lang="en-US" sz="1400" dirty="0">
                <a:latin typeface="Segoe UI Black" panose="020B0A02040204020203" pitchFamily="34" charset="0"/>
                <a:ea typeface="Segoe UI Black" panose="020B0A02040204020203" pitchFamily="34" charset="0"/>
              </a:rPr>
            </a:br>
            <a:br>
              <a:rPr lang="en-US" sz="1400" dirty="0">
                <a:latin typeface="Segoe UI Black" panose="020B0A02040204020203" pitchFamily="34" charset="0"/>
                <a:ea typeface="Segoe UI Black" panose="020B0A02040204020203" pitchFamily="34" charset="0"/>
              </a:rPr>
            </a:br>
            <a:r>
              <a:rPr lang="en-US" sz="1400" dirty="0">
                <a:latin typeface="Segoe UI Black" panose="020B0A02040204020203" pitchFamily="34" charset="0"/>
                <a:ea typeface="Segoe UI Black" panose="020B0A02040204020203" pitchFamily="34" charset="0"/>
              </a:rPr>
              <a:t>                      Power BI</a:t>
            </a:r>
          </a:p>
          <a:p>
            <a:pPr lvl="5"/>
            <a:br>
              <a:rPr lang="en-US" sz="1600" b="1" dirty="0">
                <a:latin typeface="Segoe UI Black" panose="020B0A02040204020203" pitchFamily="34" charset="0"/>
                <a:ea typeface="Segoe UI Black" panose="020B0A02040204020203" pitchFamily="34" charset="0"/>
              </a:rPr>
            </a:br>
            <a:br>
              <a:rPr lang="en-US" sz="1600" b="1" dirty="0">
                <a:latin typeface="Segoe UI Black" panose="020B0A02040204020203" pitchFamily="34" charset="0"/>
                <a:ea typeface="Segoe UI Black" panose="020B0A02040204020203" pitchFamily="34" charset="0"/>
              </a:rPr>
            </a:br>
            <a:br>
              <a:rPr lang="en-US" sz="1600" b="1" dirty="0">
                <a:latin typeface="Segoe UI Black" panose="020B0A02040204020203" pitchFamily="34" charset="0"/>
                <a:ea typeface="Segoe UI Black" panose="020B0A02040204020203" pitchFamily="34" charset="0"/>
              </a:rPr>
            </a:br>
            <a:endParaRPr lang="en-US" sz="1600" dirty="0">
              <a:latin typeface="Segoe UI Black" panose="020B0A02040204020203" pitchFamily="34" charset="0"/>
              <a:ea typeface="Segoe UI Black" panose="020B0A02040204020203" pitchFamily="34" charset="0"/>
            </a:endParaRPr>
          </a:p>
          <a:p>
            <a:endParaRPr lang="en-US" sz="1400" dirty="0"/>
          </a:p>
        </p:txBody>
      </p:sp>
      <p:pic>
        <p:nvPicPr>
          <p:cNvPr id="14" name="Picture 13" descr="A yellow tree with leaves in a blue background&#10;&#10;AI-generated content may be incorrect.">
            <a:extLst>
              <a:ext uri="{FF2B5EF4-FFF2-40B4-BE49-F238E27FC236}">
                <a16:creationId xmlns:a16="http://schemas.microsoft.com/office/drawing/2014/main" id="{F5B3D7ED-4F74-1695-76EA-A95EE34F4314}"/>
              </a:ext>
            </a:extLst>
          </p:cNvPr>
          <p:cNvPicPr>
            <a:picLocks noChangeAspect="1"/>
          </p:cNvPicPr>
          <p:nvPr/>
        </p:nvPicPr>
        <p:blipFill>
          <a:blip r:embed="rId2"/>
          <a:stretch>
            <a:fillRect/>
          </a:stretch>
        </p:blipFill>
        <p:spPr>
          <a:xfrm>
            <a:off x="1428438" y="1076267"/>
            <a:ext cx="416512" cy="511940"/>
          </a:xfrm>
          <a:prstGeom prst="rect">
            <a:avLst/>
          </a:prstGeom>
        </p:spPr>
      </p:pic>
      <p:pic>
        <p:nvPicPr>
          <p:cNvPr id="7" name="Picture 6">
            <a:extLst>
              <a:ext uri="{FF2B5EF4-FFF2-40B4-BE49-F238E27FC236}">
                <a16:creationId xmlns:a16="http://schemas.microsoft.com/office/drawing/2014/main" id="{6107EE48-7C57-4D52-824A-AE3D700BE6FF}"/>
              </a:ext>
            </a:extLst>
          </p:cNvPr>
          <p:cNvPicPr>
            <a:picLocks noChangeAspect="1"/>
          </p:cNvPicPr>
          <p:nvPr/>
        </p:nvPicPr>
        <p:blipFill>
          <a:blip r:embed="rId3"/>
          <a:stretch>
            <a:fillRect/>
          </a:stretch>
        </p:blipFill>
        <p:spPr>
          <a:xfrm>
            <a:off x="2236392" y="4209261"/>
            <a:ext cx="557047" cy="1386140"/>
          </a:xfrm>
          <a:prstGeom prst="rect">
            <a:avLst/>
          </a:prstGeom>
        </p:spPr>
      </p:pic>
      <p:pic>
        <p:nvPicPr>
          <p:cNvPr id="10" name="Picture 9">
            <a:extLst>
              <a:ext uri="{FF2B5EF4-FFF2-40B4-BE49-F238E27FC236}">
                <a16:creationId xmlns:a16="http://schemas.microsoft.com/office/drawing/2014/main" id="{36F20B90-B741-46FE-9498-19C2077F5A3C}"/>
              </a:ext>
            </a:extLst>
          </p:cNvPr>
          <p:cNvPicPr>
            <a:picLocks noChangeAspect="1"/>
          </p:cNvPicPr>
          <p:nvPr/>
        </p:nvPicPr>
        <p:blipFill>
          <a:blip r:embed="rId4"/>
          <a:stretch>
            <a:fillRect/>
          </a:stretch>
        </p:blipFill>
        <p:spPr>
          <a:xfrm>
            <a:off x="6437134" y="1332237"/>
            <a:ext cx="5760920" cy="4953505"/>
          </a:xfrm>
          <a:prstGeom prst="rect">
            <a:avLst/>
          </a:prstGeom>
        </p:spPr>
      </p:pic>
    </p:spTree>
    <p:extLst>
      <p:ext uri="{BB962C8B-B14F-4D97-AF65-F5344CB8AC3E}">
        <p14:creationId xmlns:p14="http://schemas.microsoft.com/office/powerpoint/2010/main" val="14127485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8104D"/>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B300744-4070-2BFE-FA39-60A3F0EF1936}"/>
              </a:ext>
            </a:extLst>
          </p:cNvPr>
          <p:cNvSpPr/>
          <p:nvPr/>
        </p:nvSpPr>
        <p:spPr>
          <a:xfrm>
            <a:off x="-23017" y="13930"/>
            <a:ext cx="859172" cy="6885859"/>
          </a:xfrm>
          <a:prstGeom prst="rect">
            <a:avLst/>
          </a:prstGeom>
          <a:solidFill>
            <a:srgbClr val="09115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C2024389-CC57-8D1E-FD9F-D81283781495}"/>
              </a:ext>
            </a:extLst>
          </p:cNvPr>
          <p:cNvSpPr/>
          <p:nvPr/>
        </p:nvSpPr>
        <p:spPr>
          <a:xfrm>
            <a:off x="896220" y="28984"/>
            <a:ext cx="11346980" cy="1259227"/>
          </a:xfrm>
          <a:prstGeom prst="roundRect">
            <a:avLst/>
          </a:prstGeom>
          <a:solidFill>
            <a:srgbClr val="081354"/>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2400" b="1" dirty="0">
                <a:latin typeface="Segoe UI"/>
                <a:ea typeface="+mn-lt"/>
                <a:cs typeface="Segoe UI"/>
              </a:rPr>
              <a:t>                        Healthcare Workforce Mental Health Dashboard</a:t>
            </a:r>
            <a:br>
              <a:rPr lang="en-US" sz="2400" b="1" dirty="0">
                <a:latin typeface="Segoe UI"/>
                <a:ea typeface="+mn-lt"/>
                <a:cs typeface="Segoe UI"/>
              </a:rPr>
            </a:br>
            <a:r>
              <a:rPr lang="en-US" sz="2400" b="1" dirty="0">
                <a:latin typeface="Segoe UI"/>
                <a:ea typeface="+mn-lt"/>
                <a:cs typeface="Segoe UI"/>
              </a:rPr>
              <a:t>			</a:t>
            </a:r>
            <a:endParaRPr lang="en-US" sz="1400" dirty="0"/>
          </a:p>
        </p:txBody>
      </p:sp>
      <p:pic>
        <p:nvPicPr>
          <p:cNvPr id="14" name="Picture 13" descr="A yellow tree with leaves in a blue background&#10;&#10;AI-generated content may be incorrect.">
            <a:extLst>
              <a:ext uri="{FF2B5EF4-FFF2-40B4-BE49-F238E27FC236}">
                <a16:creationId xmlns:a16="http://schemas.microsoft.com/office/drawing/2014/main" id="{F5B3D7ED-4F74-1695-76EA-A95EE34F4314}"/>
              </a:ext>
            </a:extLst>
          </p:cNvPr>
          <p:cNvPicPr>
            <a:picLocks noChangeAspect="1"/>
          </p:cNvPicPr>
          <p:nvPr/>
        </p:nvPicPr>
        <p:blipFill>
          <a:blip r:embed="rId2"/>
          <a:stretch>
            <a:fillRect/>
          </a:stretch>
        </p:blipFill>
        <p:spPr>
          <a:xfrm>
            <a:off x="2568227" y="32016"/>
            <a:ext cx="479299" cy="589112"/>
          </a:xfrm>
          <a:prstGeom prst="rect">
            <a:avLst/>
          </a:prstGeom>
        </p:spPr>
      </p:pic>
      <p:sp>
        <p:nvSpPr>
          <p:cNvPr id="3" name="Rectangle 2">
            <a:extLst>
              <a:ext uri="{FF2B5EF4-FFF2-40B4-BE49-F238E27FC236}">
                <a16:creationId xmlns:a16="http://schemas.microsoft.com/office/drawing/2014/main" id="{124B039C-6FD4-4D46-A7FB-BEC79B5F0DAC}"/>
              </a:ext>
            </a:extLst>
          </p:cNvPr>
          <p:cNvSpPr/>
          <p:nvPr/>
        </p:nvSpPr>
        <p:spPr>
          <a:xfrm>
            <a:off x="1103876" y="1777042"/>
            <a:ext cx="5394383" cy="499757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The healthcare industry is highly demanding and can significantly affect employee mental health and workplace performance. This project analyzes healthcare workforce data to identify patterns related to stress, burnout, job satisfaction, mental health absences, employee assistance program access, and turnover intention.</a:t>
            </a:r>
            <a:br>
              <a:rPr lang="en-US" dirty="0"/>
            </a:br>
            <a:endParaRPr lang="en-US" dirty="0"/>
          </a:p>
          <a:p>
            <a:r>
              <a:rPr lang="en-US" b="1" dirty="0">
                <a:latin typeface="Segoe UI Black" panose="020B0A02040204020203" pitchFamily="34" charset="0"/>
                <a:ea typeface="Segoe UI Black" panose="020B0A02040204020203" pitchFamily="34" charset="0"/>
              </a:rPr>
              <a:t>Project Objectives</a:t>
            </a:r>
          </a:p>
          <a:p>
            <a:r>
              <a:rPr lang="en-US" dirty="0"/>
              <a:t>Analyze employee stress levels across departments. </a:t>
            </a:r>
          </a:p>
          <a:p>
            <a:r>
              <a:rPr lang="en-US" dirty="0"/>
              <a:t>Identify major workplace factors contributing to stress. </a:t>
            </a:r>
          </a:p>
          <a:p>
            <a:r>
              <a:rPr lang="en-US" dirty="0"/>
              <a:t>Examine burnout frequency among healthcare workers. </a:t>
            </a:r>
          </a:p>
          <a:p>
            <a:r>
              <a:rPr lang="en-US" dirty="0"/>
              <a:t>Assess employee job satisfaction levels. </a:t>
            </a:r>
          </a:p>
          <a:p>
            <a:r>
              <a:rPr lang="en-US" dirty="0"/>
              <a:t>Evaluate mental health absence trends. </a:t>
            </a:r>
          </a:p>
          <a:p>
            <a:r>
              <a:rPr lang="en-US" dirty="0"/>
              <a:t>Analyze workforce retention and turnover intention. </a:t>
            </a:r>
          </a:p>
          <a:p>
            <a:r>
              <a:rPr lang="en-US" dirty="0"/>
              <a:t>Provide recommendations to improve employee wellbeing.</a:t>
            </a:r>
          </a:p>
        </p:txBody>
      </p:sp>
      <p:sp>
        <p:nvSpPr>
          <p:cNvPr id="7" name="Rectangle 6">
            <a:extLst>
              <a:ext uri="{FF2B5EF4-FFF2-40B4-BE49-F238E27FC236}">
                <a16:creationId xmlns:a16="http://schemas.microsoft.com/office/drawing/2014/main" id="{F169876F-D0C3-446B-8C22-937A34869EF4}"/>
              </a:ext>
            </a:extLst>
          </p:cNvPr>
          <p:cNvSpPr/>
          <p:nvPr/>
        </p:nvSpPr>
        <p:spPr>
          <a:xfrm>
            <a:off x="7251940" y="2028530"/>
            <a:ext cx="4848957" cy="474608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G"/>
          </a:p>
        </p:txBody>
      </p:sp>
      <p:sp>
        <p:nvSpPr>
          <p:cNvPr id="5" name="Rectangle: Rounded Corners 4">
            <a:extLst>
              <a:ext uri="{FF2B5EF4-FFF2-40B4-BE49-F238E27FC236}">
                <a16:creationId xmlns:a16="http://schemas.microsoft.com/office/drawing/2014/main" id="{56286A1F-08C4-44E9-B2BF-D4D3180D1ED7}"/>
              </a:ext>
            </a:extLst>
          </p:cNvPr>
          <p:cNvSpPr/>
          <p:nvPr/>
        </p:nvSpPr>
        <p:spPr>
          <a:xfrm>
            <a:off x="3970892" y="589211"/>
            <a:ext cx="3871147" cy="589111"/>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Segoe UI Black" panose="020B0A02040204020203" pitchFamily="34" charset="0"/>
                <a:ea typeface="Segoe UI Black" panose="020B0A02040204020203" pitchFamily="34" charset="0"/>
              </a:rPr>
              <a:t>Project Overview &amp; Objectives</a:t>
            </a:r>
            <a:endParaRPr lang="en-NG" dirty="0">
              <a:latin typeface="Segoe UI Black" panose="020B0A02040204020203" pitchFamily="34" charset="0"/>
              <a:ea typeface="Segoe UI Black" panose="020B0A02040204020203" pitchFamily="34" charset="0"/>
            </a:endParaRPr>
          </a:p>
        </p:txBody>
      </p:sp>
      <p:pic>
        <p:nvPicPr>
          <p:cNvPr id="6" name="Picture 5">
            <a:extLst>
              <a:ext uri="{FF2B5EF4-FFF2-40B4-BE49-F238E27FC236}">
                <a16:creationId xmlns:a16="http://schemas.microsoft.com/office/drawing/2014/main" id="{6D160B03-3F16-4E90-AF46-92A23029FB4B}"/>
              </a:ext>
            </a:extLst>
          </p:cNvPr>
          <p:cNvPicPr>
            <a:picLocks noChangeAspect="1"/>
          </p:cNvPicPr>
          <p:nvPr/>
        </p:nvPicPr>
        <p:blipFill>
          <a:blip r:embed="rId3"/>
          <a:stretch>
            <a:fillRect/>
          </a:stretch>
        </p:blipFill>
        <p:spPr>
          <a:xfrm>
            <a:off x="6627768" y="1886309"/>
            <a:ext cx="5597264" cy="4888303"/>
          </a:xfrm>
          <a:prstGeom prst="rect">
            <a:avLst/>
          </a:prstGeom>
        </p:spPr>
      </p:pic>
    </p:spTree>
    <p:extLst>
      <p:ext uri="{BB962C8B-B14F-4D97-AF65-F5344CB8AC3E}">
        <p14:creationId xmlns:p14="http://schemas.microsoft.com/office/powerpoint/2010/main" val="37681759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8104D"/>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B300744-4070-2BFE-FA39-60A3F0EF1936}"/>
              </a:ext>
            </a:extLst>
          </p:cNvPr>
          <p:cNvSpPr/>
          <p:nvPr/>
        </p:nvSpPr>
        <p:spPr>
          <a:xfrm>
            <a:off x="-16962" y="13930"/>
            <a:ext cx="859172" cy="6885859"/>
          </a:xfrm>
          <a:prstGeom prst="rect">
            <a:avLst/>
          </a:prstGeom>
          <a:solidFill>
            <a:srgbClr val="09115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C2024389-CC57-8D1E-FD9F-D81283781495}"/>
              </a:ext>
            </a:extLst>
          </p:cNvPr>
          <p:cNvSpPr/>
          <p:nvPr/>
        </p:nvSpPr>
        <p:spPr>
          <a:xfrm>
            <a:off x="845020" y="32404"/>
            <a:ext cx="11346980" cy="1026158"/>
          </a:xfrm>
          <a:prstGeom prst="roundRect">
            <a:avLst/>
          </a:prstGeom>
          <a:solidFill>
            <a:srgbClr val="081354"/>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2400" b="1" dirty="0">
                <a:latin typeface="Segoe UI"/>
                <a:ea typeface="+mn-lt"/>
                <a:cs typeface="Segoe UI"/>
              </a:rPr>
              <a:t>                        Healthcare Workforce Mental Health Dashboard</a:t>
            </a:r>
            <a:br>
              <a:rPr lang="en-US" sz="2400" b="1" dirty="0">
                <a:latin typeface="Segoe UI"/>
                <a:ea typeface="+mn-lt"/>
                <a:cs typeface="Segoe UI"/>
              </a:rPr>
            </a:br>
            <a:r>
              <a:rPr lang="en-US" sz="2400" b="1" dirty="0">
                <a:latin typeface="Segoe UI"/>
                <a:ea typeface="+mn-lt"/>
                <a:cs typeface="Segoe UI"/>
              </a:rPr>
              <a:t>			</a:t>
            </a:r>
            <a:endParaRPr lang="en-US" sz="1400" dirty="0"/>
          </a:p>
        </p:txBody>
      </p:sp>
      <p:pic>
        <p:nvPicPr>
          <p:cNvPr id="14" name="Picture 13" descr="A yellow tree with leaves in a blue background&#10;&#10;AI-generated content may be incorrect.">
            <a:extLst>
              <a:ext uri="{FF2B5EF4-FFF2-40B4-BE49-F238E27FC236}">
                <a16:creationId xmlns:a16="http://schemas.microsoft.com/office/drawing/2014/main" id="{F5B3D7ED-4F74-1695-76EA-A95EE34F4314}"/>
              </a:ext>
            </a:extLst>
          </p:cNvPr>
          <p:cNvPicPr>
            <a:picLocks noChangeAspect="1"/>
          </p:cNvPicPr>
          <p:nvPr/>
        </p:nvPicPr>
        <p:blipFill>
          <a:blip r:embed="rId2"/>
          <a:stretch>
            <a:fillRect/>
          </a:stretch>
        </p:blipFill>
        <p:spPr>
          <a:xfrm>
            <a:off x="2568227" y="32016"/>
            <a:ext cx="479299" cy="589112"/>
          </a:xfrm>
          <a:prstGeom prst="rect">
            <a:avLst/>
          </a:prstGeom>
        </p:spPr>
      </p:pic>
      <p:sp>
        <p:nvSpPr>
          <p:cNvPr id="3" name="Rectangle 2">
            <a:extLst>
              <a:ext uri="{FF2B5EF4-FFF2-40B4-BE49-F238E27FC236}">
                <a16:creationId xmlns:a16="http://schemas.microsoft.com/office/drawing/2014/main" id="{124B039C-6FD4-4D46-A7FB-BEC79B5F0DAC}"/>
              </a:ext>
            </a:extLst>
          </p:cNvPr>
          <p:cNvSpPr/>
          <p:nvPr/>
        </p:nvSpPr>
        <p:spPr>
          <a:xfrm>
            <a:off x="977660" y="1495245"/>
            <a:ext cx="5865963" cy="523335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br>
              <a:rPr lang="en-US" dirty="0"/>
            </a:br>
            <a:r>
              <a:rPr lang="en-US" dirty="0"/>
              <a:t>The dataset contains information on </a:t>
            </a:r>
            <a:r>
              <a:rPr lang="en-US" b="1" dirty="0"/>
              <a:t>5,000 healthcare employees</a:t>
            </a:r>
            <a:r>
              <a:rPr lang="en-US" dirty="0"/>
              <a:t> from multiple healthcare professions and departments.</a:t>
            </a:r>
          </a:p>
          <a:p>
            <a:r>
              <a:rPr lang="en-US" b="1" dirty="0">
                <a:latin typeface="Segoe UI Black" panose="020B0A02040204020203" pitchFamily="34" charset="0"/>
                <a:ea typeface="Segoe UI Black" panose="020B0A02040204020203" pitchFamily="34" charset="0"/>
              </a:rPr>
              <a:t>Key Variables</a:t>
            </a:r>
          </a:p>
          <a:p>
            <a:pPr marL="742950" lvl="1" indent="-285750" algn="just">
              <a:buFont typeface="Arial" panose="020B0604020202020204" pitchFamily="34" charset="0"/>
              <a:buChar char="•"/>
            </a:pPr>
            <a:r>
              <a:rPr lang="en-US" dirty="0"/>
              <a:t>Employee Type  &amp; Employee ID  </a:t>
            </a:r>
          </a:p>
          <a:p>
            <a:pPr marL="742950" lvl="1" indent="-285750" algn="just">
              <a:buFont typeface="Arial" panose="020B0604020202020204" pitchFamily="34" charset="0"/>
              <a:buChar char="•"/>
            </a:pPr>
            <a:r>
              <a:rPr lang="en-US" dirty="0"/>
              <a:t>Department </a:t>
            </a:r>
          </a:p>
          <a:p>
            <a:pPr marL="742950" lvl="1" indent="-285750" algn="just">
              <a:buFont typeface="Arial" panose="020B0604020202020204" pitchFamily="34" charset="0"/>
              <a:buChar char="•"/>
            </a:pPr>
            <a:r>
              <a:rPr lang="en-US" dirty="0"/>
              <a:t>Workplace Factor </a:t>
            </a:r>
          </a:p>
          <a:p>
            <a:pPr marL="742950" lvl="1" indent="-285750" algn="just">
              <a:buFont typeface="Arial" panose="020B0604020202020204" pitchFamily="34" charset="0"/>
              <a:buChar char="•"/>
            </a:pPr>
            <a:r>
              <a:rPr lang="en-US" dirty="0"/>
              <a:t> Stress Level </a:t>
            </a:r>
          </a:p>
          <a:p>
            <a:pPr marL="742950" lvl="1" indent="-285750" algn="just">
              <a:buFont typeface="Arial" panose="020B0604020202020204" pitchFamily="34" charset="0"/>
              <a:buChar char="•"/>
            </a:pPr>
            <a:r>
              <a:rPr lang="en-US" dirty="0"/>
              <a:t>Burnout Frequency  </a:t>
            </a:r>
          </a:p>
          <a:p>
            <a:pPr marL="742950" lvl="1" indent="-285750" algn="just">
              <a:buFont typeface="Arial" panose="020B0604020202020204" pitchFamily="34" charset="0"/>
              <a:buChar char="•"/>
            </a:pPr>
            <a:r>
              <a:rPr lang="en-US" dirty="0"/>
              <a:t>Job Satisfaction </a:t>
            </a:r>
          </a:p>
          <a:p>
            <a:pPr marL="742950" lvl="1" indent="-285750" algn="just">
              <a:buFont typeface="Arial" panose="020B0604020202020204" pitchFamily="34" charset="0"/>
              <a:buChar char="•"/>
            </a:pPr>
            <a:r>
              <a:rPr lang="en-US" dirty="0"/>
              <a:t>Access to Employee Assistance Programs (EAPs) </a:t>
            </a:r>
          </a:p>
          <a:p>
            <a:pPr marL="742950" lvl="1" indent="-285750" algn="just">
              <a:buFont typeface="Arial" panose="020B0604020202020204" pitchFamily="34" charset="0"/>
              <a:buChar char="•"/>
            </a:pPr>
            <a:r>
              <a:rPr lang="en-US" dirty="0"/>
              <a:t>Mental Health Absences </a:t>
            </a:r>
          </a:p>
          <a:p>
            <a:pPr marL="742950" lvl="1" indent="-285750" algn="just">
              <a:buFont typeface="Arial" panose="020B0604020202020204" pitchFamily="34" charset="0"/>
              <a:buChar char="•"/>
            </a:pPr>
            <a:r>
              <a:rPr lang="en-US" dirty="0"/>
              <a:t>Turnover Intention</a:t>
            </a:r>
          </a:p>
          <a:p>
            <a:r>
              <a:rPr lang="en-US" b="1" dirty="0">
                <a:latin typeface="Segoe UI Black" panose="020B0A02040204020203" pitchFamily="34" charset="0"/>
                <a:ea typeface="Segoe UI Black" panose="020B0A02040204020203" pitchFamily="34" charset="0"/>
              </a:rPr>
              <a:t>Dataset Size</a:t>
            </a:r>
          </a:p>
          <a:p>
            <a:pPr marL="742950" lvl="1" indent="-285750">
              <a:buFont typeface="Arial" panose="020B0604020202020204" pitchFamily="34" charset="0"/>
              <a:buChar char="•"/>
            </a:pPr>
            <a:r>
              <a:rPr lang="en-US" dirty="0"/>
              <a:t>Total Employees: 5,000 </a:t>
            </a:r>
          </a:p>
          <a:p>
            <a:pPr marL="742950" lvl="1" indent="-285750">
              <a:buFont typeface="Arial" panose="020B0604020202020204" pitchFamily="34" charset="0"/>
              <a:buChar char="•"/>
            </a:pPr>
            <a:r>
              <a:rPr lang="en-US" dirty="0"/>
              <a:t>Multiple Healthcare Professions </a:t>
            </a:r>
          </a:p>
          <a:p>
            <a:pPr marL="742950" lvl="1" indent="-285750">
              <a:buFont typeface="Arial" panose="020B0604020202020204" pitchFamily="34" charset="0"/>
              <a:buChar char="•"/>
            </a:pPr>
            <a:r>
              <a:rPr lang="en-US" dirty="0"/>
              <a:t>Multiple Clinical Departments</a:t>
            </a:r>
          </a:p>
          <a:p>
            <a:pPr marL="285750" indent="-285750">
              <a:buFont typeface="Arial" panose="020B0604020202020204" pitchFamily="34" charset="0"/>
              <a:buChar char="•"/>
            </a:pPr>
            <a:endParaRPr lang="en-US" dirty="0"/>
          </a:p>
        </p:txBody>
      </p:sp>
      <p:sp>
        <p:nvSpPr>
          <p:cNvPr id="7" name="Rectangle 6">
            <a:extLst>
              <a:ext uri="{FF2B5EF4-FFF2-40B4-BE49-F238E27FC236}">
                <a16:creationId xmlns:a16="http://schemas.microsoft.com/office/drawing/2014/main" id="{F169876F-D0C3-446B-8C22-937A34869EF4}"/>
              </a:ext>
            </a:extLst>
          </p:cNvPr>
          <p:cNvSpPr/>
          <p:nvPr/>
        </p:nvSpPr>
        <p:spPr>
          <a:xfrm>
            <a:off x="7251940" y="2028530"/>
            <a:ext cx="4848957" cy="474608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G"/>
          </a:p>
        </p:txBody>
      </p:sp>
      <p:sp>
        <p:nvSpPr>
          <p:cNvPr id="5" name="Rectangle: Rounded Corners 4">
            <a:extLst>
              <a:ext uri="{FF2B5EF4-FFF2-40B4-BE49-F238E27FC236}">
                <a16:creationId xmlns:a16="http://schemas.microsoft.com/office/drawing/2014/main" id="{56286A1F-08C4-44E9-B2BF-D4D3180D1ED7}"/>
              </a:ext>
            </a:extLst>
          </p:cNvPr>
          <p:cNvSpPr/>
          <p:nvPr/>
        </p:nvSpPr>
        <p:spPr>
          <a:xfrm>
            <a:off x="4285785" y="514338"/>
            <a:ext cx="3798479" cy="654397"/>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Segoe UI Black" panose="020B0A02040204020203" pitchFamily="34" charset="0"/>
                <a:ea typeface="Segoe UI Black" panose="020B0A02040204020203" pitchFamily="34" charset="0"/>
              </a:rPr>
              <a:t>DATASET OVERVIEW</a:t>
            </a:r>
            <a:endParaRPr lang="en-NG" dirty="0">
              <a:latin typeface="Segoe UI Black" panose="020B0A02040204020203" pitchFamily="34" charset="0"/>
              <a:ea typeface="Segoe UI Black" panose="020B0A02040204020203" pitchFamily="34" charset="0"/>
            </a:endParaRPr>
          </a:p>
        </p:txBody>
      </p:sp>
      <p:pic>
        <p:nvPicPr>
          <p:cNvPr id="10" name="Picture 9">
            <a:extLst>
              <a:ext uri="{FF2B5EF4-FFF2-40B4-BE49-F238E27FC236}">
                <a16:creationId xmlns:a16="http://schemas.microsoft.com/office/drawing/2014/main" id="{50886282-07DE-43E9-86E2-9A3694712827}"/>
              </a:ext>
            </a:extLst>
          </p:cNvPr>
          <p:cNvPicPr>
            <a:picLocks noChangeAspect="1"/>
          </p:cNvPicPr>
          <p:nvPr/>
        </p:nvPicPr>
        <p:blipFill>
          <a:blip r:embed="rId3"/>
          <a:stretch>
            <a:fillRect/>
          </a:stretch>
        </p:blipFill>
        <p:spPr>
          <a:xfrm>
            <a:off x="7205932" y="2028531"/>
            <a:ext cx="4986067" cy="4797452"/>
          </a:xfrm>
          <a:prstGeom prst="rect">
            <a:avLst/>
          </a:prstGeom>
        </p:spPr>
      </p:pic>
    </p:spTree>
    <p:extLst>
      <p:ext uri="{BB962C8B-B14F-4D97-AF65-F5344CB8AC3E}">
        <p14:creationId xmlns:p14="http://schemas.microsoft.com/office/powerpoint/2010/main" val="30489131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8104D"/>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B300744-4070-2BFE-FA39-60A3F0EF1936}"/>
              </a:ext>
            </a:extLst>
          </p:cNvPr>
          <p:cNvSpPr/>
          <p:nvPr/>
        </p:nvSpPr>
        <p:spPr>
          <a:xfrm>
            <a:off x="-16962" y="13930"/>
            <a:ext cx="859172" cy="6885859"/>
          </a:xfrm>
          <a:prstGeom prst="rect">
            <a:avLst/>
          </a:prstGeom>
          <a:solidFill>
            <a:srgbClr val="09115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C2024389-CC57-8D1E-FD9F-D81283781495}"/>
              </a:ext>
            </a:extLst>
          </p:cNvPr>
          <p:cNvSpPr/>
          <p:nvPr/>
        </p:nvSpPr>
        <p:spPr>
          <a:xfrm>
            <a:off x="845020" y="32404"/>
            <a:ext cx="11346980" cy="1026158"/>
          </a:xfrm>
          <a:prstGeom prst="roundRect">
            <a:avLst/>
          </a:prstGeom>
          <a:solidFill>
            <a:srgbClr val="081354"/>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2400" b="1" dirty="0">
                <a:latin typeface="Segoe UI"/>
                <a:ea typeface="+mn-lt"/>
                <a:cs typeface="Segoe UI"/>
              </a:rPr>
              <a:t>                        Healthcare Workforce Mental Health Dashboard</a:t>
            </a:r>
            <a:br>
              <a:rPr lang="en-US" sz="2400" b="1" dirty="0">
                <a:latin typeface="Segoe UI"/>
                <a:ea typeface="+mn-lt"/>
                <a:cs typeface="Segoe UI"/>
              </a:rPr>
            </a:br>
            <a:r>
              <a:rPr lang="en-US" sz="2400" b="1" dirty="0">
                <a:latin typeface="Segoe UI"/>
                <a:ea typeface="+mn-lt"/>
                <a:cs typeface="Segoe UI"/>
              </a:rPr>
              <a:t>			</a:t>
            </a:r>
            <a:endParaRPr lang="en-US" sz="1400" dirty="0"/>
          </a:p>
        </p:txBody>
      </p:sp>
      <p:pic>
        <p:nvPicPr>
          <p:cNvPr id="14" name="Picture 13" descr="A yellow tree with leaves in a blue background&#10;&#10;AI-generated content may be incorrect.">
            <a:extLst>
              <a:ext uri="{FF2B5EF4-FFF2-40B4-BE49-F238E27FC236}">
                <a16:creationId xmlns:a16="http://schemas.microsoft.com/office/drawing/2014/main" id="{F5B3D7ED-4F74-1695-76EA-A95EE34F4314}"/>
              </a:ext>
            </a:extLst>
          </p:cNvPr>
          <p:cNvPicPr>
            <a:picLocks noChangeAspect="1"/>
          </p:cNvPicPr>
          <p:nvPr/>
        </p:nvPicPr>
        <p:blipFill>
          <a:blip r:embed="rId2"/>
          <a:stretch>
            <a:fillRect/>
          </a:stretch>
        </p:blipFill>
        <p:spPr>
          <a:xfrm>
            <a:off x="2568227" y="32016"/>
            <a:ext cx="479299" cy="589112"/>
          </a:xfrm>
          <a:prstGeom prst="rect">
            <a:avLst/>
          </a:prstGeom>
        </p:spPr>
      </p:pic>
      <p:sp>
        <p:nvSpPr>
          <p:cNvPr id="3" name="Rectangle 2">
            <a:extLst>
              <a:ext uri="{FF2B5EF4-FFF2-40B4-BE49-F238E27FC236}">
                <a16:creationId xmlns:a16="http://schemas.microsoft.com/office/drawing/2014/main" id="{124B039C-6FD4-4D46-A7FB-BEC79B5F0DAC}"/>
              </a:ext>
            </a:extLst>
          </p:cNvPr>
          <p:cNvSpPr/>
          <p:nvPr/>
        </p:nvSpPr>
        <p:spPr>
          <a:xfrm>
            <a:off x="977660" y="1350405"/>
            <a:ext cx="5865963" cy="537819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latin typeface="Segoe UI Black" panose="020B0A02040204020203" pitchFamily="34" charset="0"/>
                <a:ea typeface="Segoe UI Black" panose="020B0A02040204020203" pitchFamily="34" charset="0"/>
              </a:rPr>
              <a:t>Excel :</a:t>
            </a:r>
            <a:br>
              <a:rPr lang="en-US" b="1" dirty="0">
                <a:latin typeface="Segoe UI Black" panose="020B0A02040204020203" pitchFamily="34" charset="0"/>
                <a:ea typeface="Segoe UI Black" panose="020B0A02040204020203" pitchFamily="34" charset="0"/>
              </a:rPr>
            </a:br>
            <a:endParaRPr lang="en-US" dirty="0">
              <a:latin typeface="Segoe UI Black" panose="020B0A02040204020203" pitchFamily="34" charset="0"/>
              <a:ea typeface="Segoe UI Black" panose="020B0A02040204020203" pitchFamily="34" charset="0"/>
            </a:endParaRPr>
          </a:p>
          <a:p>
            <a:r>
              <a:rPr lang="en-US" dirty="0"/>
              <a:t>Cleaned and prepared the healthcare workforce dataset. </a:t>
            </a:r>
          </a:p>
          <a:p>
            <a:r>
              <a:rPr lang="en-US" dirty="0"/>
              <a:t>Conducted preliminary analysis using Pivot Tables and charts. </a:t>
            </a:r>
            <a:br>
              <a:rPr lang="en-US" dirty="0"/>
            </a:br>
            <a:endParaRPr lang="en-US" dirty="0"/>
          </a:p>
          <a:p>
            <a:r>
              <a:rPr lang="en-US" b="1" dirty="0"/>
              <a:t>SQL :</a:t>
            </a:r>
            <a:br>
              <a:rPr lang="en-US" b="1" dirty="0"/>
            </a:br>
            <a:endParaRPr lang="en-US" dirty="0"/>
          </a:p>
          <a:p>
            <a:r>
              <a:rPr lang="en-US" dirty="0"/>
              <a:t>Explored workforce trends and calculated key metrics. </a:t>
            </a:r>
          </a:p>
          <a:p>
            <a:r>
              <a:rPr lang="en-US" dirty="0"/>
              <a:t>Analyzed stress, burnout, absenteeism, and retention indicators. </a:t>
            </a:r>
            <a:br>
              <a:rPr lang="en-US" dirty="0"/>
            </a:br>
            <a:endParaRPr lang="en-US" dirty="0"/>
          </a:p>
          <a:p>
            <a:r>
              <a:rPr lang="en-US" b="1" dirty="0"/>
              <a:t>Power BI :</a:t>
            </a:r>
            <a:br>
              <a:rPr lang="en-US" b="1" dirty="0"/>
            </a:br>
            <a:endParaRPr lang="en-US" dirty="0"/>
          </a:p>
          <a:p>
            <a:r>
              <a:rPr lang="en-US" dirty="0"/>
              <a:t>Created DAX measures and KPIs. </a:t>
            </a:r>
          </a:p>
          <a:p>
            <a:r>
              <a:rPr lang="en-US" dirty="0"/>
              <a:t>Built interactive dashboards to visualize workforce mental health insights. </a:t>
            </a:r>
          </a:p>
          <a:p>
            <a:r>
              <a:rPr lang="en-US" dirty="0"/>
              <a:t>This is much cleaner and more suitable for a single presentation slide.</a:t>
            </a:r>
          </a:p>
        </p:txBody>
      </p:sp>
      <p:sp>
        <p:nvSpPr>
          <p:cNvPr id="7" name="Rectangle 6">
            <a:extLst>
              <a:ext uri="{FF2B5EF4-FFF2-40B4-BE49-F238E27FC236}">
                <a16:creationId xmlns:a16="http://schemas.microsoft.com/office/drawing/2014/main" id="{F169876F-D0C3-446B-8C22-937A34869EF4}"/>
              </a:ext>
            </a:extLst>
          </p:cNvPr>
          <p:cNvSpPr/>
          <p:nvPr/>
        </p:nvSpPr>
        <p:spPr>
          <a:xfrm>
            <a:off x="7251940" y="2028530"/>
            <a:ext cx="4848957" cy="474608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G"/>
          </a:p>
        </p:txBody>
      </p:sp>
      <p:sp>
        <p:nvSpPr>
          <p:cNvPr id="5" name="Rectangle: Rounded Corners 4">
            <a:extLst>
              <a:ext uri="{FF2B5EF4-FFF2-40B4-BE49-F238E27FC236}">
                <a16:creationId xmlns:a16="http://schemas.microsoft.com/office/drawing/2014/main" id="{56286A1F-08C4-44E9-B2BF-D4D3180D1ED7}"/>
              </a:ext>
            </a:extLst>
          </p:cNvPr>
          <p:cNvSpPr/>
          <p:nvPr/>
        </p:nvSpPr>
        <p:spPr>
          <a:xfrm>
            <a:off x="4232885" y="621128"/>
            <a:ext cx="3476235" cy="437434"/>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Segoe UI Black" panose="020B0A02040204020203" pitchFamily="34" charset="0"/>
                <a:ea typeface="Segoe UI Black" panose="020B0A02040204020203" pitchFamily="34" charset="0"/>
              </a:rPr>
              <a:t>Methodology</a:t>
            </a:r>
            <a:endParaRPr lang="en-NG" dirty="0">
              <a:latin typeface="Segoe UI Black" panose="020B0A02040204020203" pitchFamily="34" charset="0"/>
              <a:ea typeface="Segoe UI Black" panose="020B0A02040204020203" pitchFamily="34" charset="0"/>
            </a:endParaRPr>
          </a:p>
        </p:txBody>
      </p:sp>
      <p:pic>
        <p:nvPicPr>
          <p:cNvPr id="6" name="Picture 5">
            <a:extLst>
              <a:ext uri="{FF2B5EF4-FFF2-40B4-BE49-F238E27FC236}">
                <a16:creationId xmlns:a16="http://schemas.microsoft.com/office/drawing/2014/main" id="{8BF8D664-9142-4B5D-BBF1-B7A9739137E1}"/>
              </a:ext>
            </a:extLst>
          </p:cNvPr>
          <p:cNvPicPr>
            <a:picLocks noChangeAspect="1"/>
          </p:cNvPicPr>
          <p:nvPr/>
        </p:nvPicPr>
        <p:blipFill>
          <a:blip r:embed="rId3"/>
          <a:stretch>
            <a:fillRect/>
          </a:stretch>
        </p:blipFill>
        <p:spPr>
          <a:xfrm>
            <a:off x="6818369" y="1350404"/>
            <a:ext cx="5391797" cy="5475191"/>
          </a:xfrm>
          <a:prstGeom prst="rect">
            <a:avLst/>
          </a:prstGeom>
        </p:spPr>
      </p:pic>
      <p:pic>
        <p:nvPicPr>
          <p:cNvPr id="9" name="Picture 8">
            <a:extLst>
              <a:ext uri="{FF2B5EF4-FFF2-40B4-BE49-F238E27FC236}">
                <a16:creationId xmlns:a16="http://schemas.microsoft.com/office/drawing/2014/main" id="{B706C4C1-9071-4CF1-93AC-4E75D12866EC}"/>
              </a:ext>
            </a:extLst>
          </p:cNvPr>
          <p:cNvPicPr>
            <a:picLocks noChangeAspect="1"/>
          </p:cNvPicPr>
          <p:nvPr/>
        </p:nvPicPr>
        <p:blipFill>
          <a:blip r:embed="rId4"/>
          <a:stretch>
            <a:fillRect/>
          </a:stretch>
        </p:blipFill>
        <p:spPr>
          <a:xfrm>
            <a:off x="7993773" y="3456859"/>
            <a:ext cx="3365290" cy="1020121"/>
          </a:xfrm>
          <a:prstGeom prst="rect">
            <a:avLst/>
          </a:prstGeom>
        </p:spPr>
      </p:pic>
    </p:spTree>
    <p:extLst>
      <p:ext uri="{BB962C8B-B14F-4D97-AF65-F5344CB8AC3E}">
        <p14:creationId xmlns:p14="http://schemas.microsoft.com/office/powerpoint/2010/main" val="6302213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8104D"/>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B300744-4070-2BFE-FA39-60A3F0EF1936}"/>
              </a:ext>
            </a:extLst>
          </p:cNvPr>
          <p:cNvSpPr/>
          <p:nvPr/>
        </p:nvSpPr>
        <p:spPr>
          <a:xfrm>
            <a:off x="-16962" y="13930"/>
            <a:ext cx="859172" cy="6885859"/>
          </a:xfrm>
          <a:prstGeom prst="rect">
            <a:avLst/>
          </a:prstGeom>
          <a:solidFill>
            <a:srgbClr val="09115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C2024389-CC57-8D1E-FD9F-D81283781495}"/>
              </a:ext>
            </a:extLst>
          </p:cNvPr>
          <p:cNvSpPr/>
          <p:nvPr/>
        </p:nvSpPr>
        <p:spPr>
          <a:xfrm>
            <a:off x="868938" y="32016"/>
            <a:ext cx="11346980" cy="1475835"/>
          </a:xfrm>
          <a:prstGeom prst="roundRect">
            <a:avLst/>
          </a:prstGeom>
          <a:solidFill>
            <a:srgbClr val="081354"/>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2400" b="1" dirty="0">
                <a:latin typeface="Segoe UI"/>
                <a:ea typeface="+mn-lt"/>
                <a:cs typeface="Segoe UI"/>
              </a:rPr>
              <a:t>                        Healthcare Workforce Mental Health Dashboard</a:t>
            </a:r>
            <a:br>
              <a:rPr lang="en-US" sz="2400" b="1" dirty="0">
                <a:latin typeface="Segoe UI"/>
                <a:ea typeface="+mn-lt"/>
                <a:cs typeface="Segoe UI"/>
              </a:rPr>
            </a:br>
            <a:br>
              <a:rPr lang="en-US" sz="2400" b="1" dirty="0">
                <a:latin typeface="Segoe UI"/>
                <a:ea typeface="+mn-lt"/>
                <a:cs typeface="Segoe UI"/>
              </a:rPr>
            </a:br>
            <a:r>
              <a:rPr lang="en-US" sz="2400" b="1" dirty="0">
                <a:latin typeface="Segoe UI"/>
                <a:ea typeface="+mn-lt"/>
                <a:cs typeface="Segoe UI"/>
              </a:rPr>
              <a:t>			</a:t>
            </a:r>
            <a:br>
              <a:rPr lang="en-US" sz="2400" b="1" dirty="0">
                <a:latin typeface="Segoe UI"/>
                <a:ea typeface="+mn-lt"/>
                <a:cs typeface="Segoe UI"/>
              </a:rPr>
            </a:br>
            <a:endParaRPr lang="en-US" sz="1400" dirty="0"/>
          </a:p>
        </p:txBody>
      </p:sp>
      <p:pic>
        <p:nvPicPr>
          <p:cNvPr id="14" name="Picture 13" descr="A yellow tree with leaves in a blue background&#10;&#10;AI-generated content may be incorrect.">
            <a:extLst>
              <a:ext uri="{FF2B5EF4-FFF2-40B4-BE49-F238E27FC236}">
                <a16:creationId xmlns:a16="http://schemas.microsoft.com/office/drawing/2014/main" id="{F5B3D7ED-4F74-1695-76EA-A95EE34F4314}"/>
              </a:ext>
            </a:extLst>
          </p:cNvPr>
          <p:cNvPicPr>
            <a:picLocks noChangeAspect="1"/>
          </p:cNvPicPr>
          <p:nvPr/>
        </p:nvPicPr>
        <p:blipFill>
          <a:blip r:embed="rId2"/>
          <a:stretch>
            <a:fillRect/>
          </a:stretch>
        </p:blipFill>
        <p:spPr>
          <a:xfrm>
            <a:off x="2568227" y="32016"/>
            <a:ext cx="479299" cy="589112"/>
          </a:xfrm>
          <a:prstGeom prst="rect">
            <a:avLst/>
          </a:prstGeom>
        </p:spPr>
      </p:pic>
      <p:sp>
        <p:nvSpPr>
          <p:cNvPr id="3" name="Rectangle 2">
            <a:extLst>
              <a:ext uri="{FF2B5EF4-FFF2-40B4-BE49-F238E27FC236}">
                <a16:creationId xmlns:a16="http://schemas.microsoft.com/office/drawing/2014/main" id="{124B039C-6FD4-4D46-A7FB-BEC79B5F0DAC}"/>
              </a:ext>
            </a:extLst>
          </p:cNvPr>
          <p:cNvSpPr/>
          <p:nvPr/>
        </p:nvSpPr>
        <p:spPr>
          <a:xfrm>
            <a:off x="977660" y="1736785"/>
            <a:ext cx="5865963" cy="49918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Structured Query Language (SQL) was used to explore and analyze the dataset before visualization.</a:t>
            </a:r>
            <a:br>
              <a:rPr lang="en-US" dirty="0"/>
            </a:br>
            <a:endParaRPr lang="en-US" dirty="0"/>
          </a:p>
          <a:p>
            <a:r>
              <a:rPr lang="en-US" b="1" dirty="0">
                <a:latin typeface="Segoe UI Black" panose="020B0A02040204020203" pitchFamily="34" charset="0"/>
                <a:ea typeface="Segoe UI Black" panose="020B0A02040204020203" pitchFamily="34" charset="0"/>
              </a:rPr>
              <a:t>Key Analysis Performed</a:t>
            </a:r>
          </a:p>
          <a:p>
            <a:r>
              <a:rPr lang="en-US" dirty="0"/>
              <a:t>Total number of healthcare employees </a:t>
            </a:r>
          </a:p>
          <a:p>
            <a:r>
              <a:rPr lang="en-US" dirty="0"/>
              <a:t>Employee distribution by profession </a:t>
            </a:r>
          </a:p>
          <a:p>
            <a:r>
              <a:rPr lang="en-US" dirty="0"/>
              <a:t>Average stress levels by department </a:t>
            </a:r>
          </a:p>
          <a:p>
            <a:r>
              <a:rPr lang="en-US" dirty="0"/>
              <a:t>Burnout frequency analysis </a:t>
            </a:r>
          </a:p>
          <a:p>
            <a:r>
              <a:rPr lang="en-US" dirty="0"/>
              <a:t>Job satisfaction assessment </a:t>
            </a:r>
          </a:p>
          <a:p>
            <a:r>
              <a:rPr lang="en-US" dirty="0"/>
              <a:t>Mental health absence analysis </a:t>
            </a:r>
          </a:p>
          <a:p>
            <a:r>
              <a:rPr lang="en-US" dirty="0"/>
              <a:t>Employee Assistance Program access analysis </a:t>
            </a:r>
          </a:p>
          <a:p>
            <a:r>
              <a:rPr lang="en-US" dirty="0"/>
              <a:t>Turnover intention analysis </a:t>
            </a:r>
            <a:br>
              <a:rPr lang="en-US" dirty="0"/>
            </a:br>
            <a:endParaRPr lang="en-US" dirty="0"/>
          </a:p>
          <a:p>
            <a:r>
              <a:rPr lang="en-US" b="1" dirty="0">
                <a:latin typeface="Segoe UI Black" panose="020B0A02040204020203" pitchFamily="34" charset="0"/>
                <a:ea typeface="Segoe UI Black" panose="020B0A02040204020203" pitchFamily="34" charset="0"/>
              </a:rPr>
              <a:t>Outcome</a:t>
            </a:r>
          </a:p>
          <a:p>
            <a:r>
              <a:rPr lang="en-US" dirty="0"/>
              <a:t>The SQL analysis provided valuable insights that guided the Power BI dashboard development process.</a:t>
            </a:r>
          </a:p>
        </p:txBody>
      </p:sp>
      <p:sp>
        <p:nvSpPr>
          <p:cNvPr id="7" name="Rectangle 6">
            <a:extLst>
              <a:ext uri="{FF2B5EF4-FFF2-40B4-BE49-F238E27FC236}">
                <a16:creationId xmlns:a16="http://schemas.microsoft.com/office/drawing/2014/main" id="{F169876F-D0C3-446B-8C22-937A34869EF4}"/>
              </a:ext>
            </a:extLst>
          </p:cNvPr>
          <p:cNvSpPr/>
          <p:nvPr/>
        </p:nvSpPr>
        <p:spPr>
          <a:xfrm>
            <a:off x="7251940" y="1998222"/>
            <a:ext cx="4848957" cy="474608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G"/>
          </a:p>
        </p:txBody>
      </p:sp>
      <p:sp>
        <p:nvSpPr>
          <p:cNvPr id="5" name="Rectangle: Rounded Corners 4">
            <a:extLst>
              <a:ext uri="{FF2B5EF4-FFF2-40B4-BE49-F238E27FC236}">
                <a16:creationId xmlns:a16="http://schemas.microsoft.com/office/drawing/2014/main" id="{56286A1F-08C4-44E9-B2BF-D4D3180D1ED7}"/>
              </a:ext>
            </a:extLst>
          </p:cNvPr>
          <p:cNvSpPr/>
          <p:nvPr/>
        </p:nvSpPr>
        <p:spPr>
          <a:xfrm>
            <a:off x="4045331" y="686071"/>
            <a:ext cx="4101337" cy="500332"/>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Segoe UI Black" panose="020B0A02040204020203" pitchFamily="34" charset="0"/>
                <a:ea typeface="Segoe UI Black" panose="020B0A02040204020203" pitchFamily="34" charset="0"/>
              </a:rPr>
              <a:t>SQL Analysis &amp; Key Findings</a:t>
            </a:r>
            <a:endParaRPr lang="en-NG" dirty="0">
              <a:latin typeface="Segoe UI Black" panose="020B0A02040204020203" pitchFamily="34" charset="0"/>
              <a:ea typeface="Segoe UI Black" panose="020B0A02040204020203" pitchFamily="34" charset="0"/>
            </a:endParaRPr>
          </a:p>
        </p:txBody>
      </p:sp>
      <p:pic>
        <p:nvPicPr>
          <p:cNvPr id="2" name="Picture 1">
            <a:extLst>
              <a:ext uri="{FF2B5EF4-FFF2-40B4-BE49-F238E27FC236}">
                <a16:creationId xmlns:a16="http://schemas.microsoft.com/office/drawing/2014/main" id="{9242E4BF-BF10-4DDB-B01D-538BC40AE188}"/>
              </a:ext>
            </a:extLst>
          </p:cNvPr>
          <p:cNvPicPr>
            <a:picLocks noChangeAspect="1"/>
          </p:cNvPicPr>
          <p:nvPr/>
        </p:nvPicPr>
        <p:blipFill>
          <a:blip r:embed="rId3"/>
          <a:stretch>
            <a:fillRect/>
          </a:stretch>
        </p:blipFill>
        <p:spPr>
          <a:xfrm>
            <a:off x="6746409" y="2108284"/>
            <a:ext cx="5354488" cy="4620320"/>
          </a:xfrm>
          <a:prstGeom prst="rect">
            <a:avLst/>
          </a:prstGeom>
        </p:spPr>
      </p:pic>
    </p:spTree>
    <p:extLst>
      <p:ext uri="{BB962C8B-B14F-4D97-AF65-F5344CB8AC3E}">
        <p14:creationId xmlns:p14="http://schemas.microsoft.com/office/powerpoint/2010/main" val="325587585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8104D"/>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B300744-4070-2BFE-FA39-60A3F0EF1936}"/>
              </a:ext>
            </a:extLst>
          </p:cNvPr>
          <p:cNvSpPr/>
          <p:nvPr/>
        </p:nvSpPr>
        <p:spPr>
          <a:xfrm>
            <a:off x="-16962" y="13930"/>
            <a:ext cx="859172" cy="6885859"/>
          </a:xfrm>
          <a:prstGeom prst="rect">
            <a:avLst/>
          </a:prstGeom>
          <a:solidFill>
            <a:srgbClr val="09115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C2024389-CC57-8D1E-FD9F-D81283781495}"/>
              </a:ext>
            </a:extLst>
          </p:cNvPr>
          <p:cNvSpPr/>
          <p:nvPr/>
        </p:nvSpPr>
        <p:spPr>
          <a:xfrm>
            <a:off x="842210" y="19646"/>
            <a:ext cx="11346980" cy="1288110"/>
          </a:xfrm>
          <a:prstGeom prst="roundRect">
            <a:avLst/>
          </a:prstGeom>
          <a:solidFill>
            <a:srgbClr val="081354"/>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2400" b="1" dirty="0">
                <a:latin typeface="Segoe UI"/>
                <a:ea typeface="+mn-lt"/>
                <a:cs typeface="Segoe UI"/>
              </a:rPr>
              <a:t>                        Healthcare Workforce Mental Health Dashboard</a:t>
            </a:r>
            <a:br>
              <a:rPr lang="en-US" sz="2400" b="1" dirty="0">
                <a:latin typeface="Segoe UI"/>
                <a:ea typeface="+mn-lt"/>
                <a:cs typeface="Segoe UI"/>
              </a:rPr>
            </a:br>
            <a:r>
              <a:rPr lang="en-US" sz="2400" b="1" dirty="0">
                <a:latin typeface="Segoe UI"/>
                <a:ea typeface="+mn-lt"/>
                <a:cs typeface="Segoe UI"/>
              </a:rPr>
              <a:t>			</a:t>
            </a:r>
            <a:endParaRPr lang="en-US" sz="1400" dirty="0"/>
          </a:p>
        </p:txBody>
      </p:sp>
      <p:pic>
        <p:nvPicPr>
          <p:cNvPr id="14" name="Picture 13" descr="A yellow tree with leaves in a blue background&#10;&#10;AI-generated content may be incorrect.">
            <a:extLst>
              <a:ext uri="{FF2B5EF4-FFF2-40B4-BE49-F238E27FC236}">
                <a16:creationId xmlns:a16="http://schemas.microsoft.com/office/drawing/2014/main" id="{F5B3D7ED-4F74-1695-76EA-A95EE34F4314}"/>
              </a:ext>
            </a:extLst>
          </p:cNvPr>
          <p:cNvPicPr>
            <a:picLocks noChangeAspect="1"/>
          </p:cNvPicPr>
          <p:nvPr/>
        </p:nvPicPr>
        <p:blipFill>
          <a:blip r:embed="rId2"/>
          <a:stretch>
            <a:fillRect/>
          </a:stretch>
        </p:blipFill>
        <p:spPr>
          <a:xfrm>
            <a:off x="2568227" y="32016"/>
            <a:ext cx="479299" cy="589112"/>
          </a:xfrm>
          <a:prstGeom prst="rect">
            <a:avLst/>
          </a:prstGeom>
        </p:spPr>
      </p:pic>
      <p:sp>
        <p:nvSpPr>
          <p:cNvPr id="3" name="Rectangle 2">
            <a:extLst>
              <a:ext uri="{FF2B5EF4-FFF2-40B4-BE49-F238E27FC236}">
                <a16:creationId xmlns:a16="http://schemas.microsoft.com/office/drawing/2014/main" id="{124B039C-6FD4-4D46-A7FB-BEC79B5F0DAC}"/>
              </a:ext>
            </a:extLst>
          </p:cNvPr>
          <p:cNvSpPr/>
          <p:nvPr/>
        </p:nvSpPr>
        <p:spPr>
          <a:xfrm>
            <a:off x="977660" y="1736785"/>
            <a:ext cx="5865963" cy="49918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A single-table healthcare workforce dataset was imported into Power BI for analysis. A dedicated DAX Measures table was created to store calculated measures and KPIs.</a:t>
            </a:r>
          </a:p>
          <a:p>
            <a:endParaRPr lang="en-US" dirty="0"/>
          </a:p>
          <a:p>
            <a:r>
              <a:rPr lang="en-US" b="1" dirty="0">
                <a:latin typeface="Segoe UI Black" panose="020B0A02040204020203" pitchFamily="34" charset="0"/>
                <a:ea typeface="Segoe UI Black" panose="020B0A02040204020203" pitchFamily="34" charset="0"/>
              </a:rPr>
              <a:t>Measures Created</a:t>
            </a:r>
          </a:p>
          <a:p>
            <a:r>
              <a:rPr lang="en-US" dirty="0"/>
              <a:t>Total Employees </a:t>
            </a:r>
          </a:p>
          <a:p>
            <a:r>
              <a:rPr lang="en-US" dirty="0"/>
              <a:t>Average Stress Level </a:t>
            </a:r>
          </a:p>
          <a:p>
            <a:r>
              <a:rPr lang="en-US" dirty="0"/>
              <a:t>Average Job Satisfaction </a:t>
            </a:r>
          </a:p>
          <a:p>
            <a:r>
              <a:rPr lang="en-US" dirty="0"/>
              <a:t>Total Mental Health Absences </a:t>
            </a:r>
          </a:p>
          <a:p>
            <a:r>
              <a:rPr lang="en-US" dirty="0"/>
              <a:t>Average Mental Health Absences </a:t>
            </a:r>
          </a:p>
          <a:p>
            <a:r>
              <a:rPr lang="en-US" dirty="0"/>
              <a:t>Frequent Burnout Cases </a:t>
            </a:r>
          </a:p>
          <a:p>
            <a:r>
              <a:rPr lang="en-US" dirty="0"/>
              <a:t>Employees with Turnover Intention </a:t>
            </a:r>
          </a:p>
          <a:p>
            <a:r>
              <a:rPr lang="en-US" dirty="0"/>
              <a:t>EAP Access Rate </a:t>
            </a:r>
          </a:p>
          <a:p>
            <a:r>
              <a:rPr lang="en-US" dirty="0"/>
              <a:t>Average Absence per Employee </a:t>
            </a:r>
          </a:p>
          <a:p>
            <a:endParaRPr lang="en-US" dirty="0"/>
          </a:p>
          <a:p>
            <a:r>
              <a:rPr lang="en-US" b="1" dirty="0">
                <a:latin typeface="Segoe UI Black" panose="020B0A02040204020203" pitchFamily="34" charset="0"/>
                <a:ea typeface="Segoe UI Black" panose="020B0A02040204020203" pitchFamily="34" charset="0"/>
              </a:rPr>
              <a:t>Model Structure</a:t>
            </a:r>
          </a:p>
          <a:p>
            <a:r>
              <a:rPr lang="en-US" dirty="0"/>
              <a:t>The project uses a flat-file structure; therefore, no table relationships were required.</a:t>
            </a:r>
          </a:p>
        </p:txBody>
      </p:sp>
      <p:sp>
        <p:nvSpPr>
          <p:cNvPr id="7" name="Rectangle 6">
            <a:extLst>
              <a:ext uri="{FF2B5EF4-FFF2-40B4-BE49-F238E27FC236}">
                <a16:creationId xmlns:a16="http://schemas.microsoft.com/office/drawing/2014/main" id="{F169876F-D0C3-446B-8C22-937A34869EF4}"/>
              </a:ext>
            </a:extLst>
          </p:cNvPr>
          <p:cNvSpPr/>
          <p:nvPr/>
        </p:nvSpPr>
        <p:spPr>
          <a:xfrm>
            <a:off x="7251940" y="2028530"/>
            <a:ext cx="4848957" cy="474608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G"/>
          </a:p>
        </p:txBody>
      </p:sp>
      <p:sp>
        <p:nvSpPr>
          <p:cNvPr id="5" name="Rectangle: Rounded Corners 4">
            <a:extLst>
              <a:ext uri="{FF2B5EF4-FFF2-40B4-BE49-F238E27FC236}">
                <a16:creationId xmlns:a16="http://schemas.microsoft.com/office/drawing/2014/main" id="{56286A1F-08C4-44E9-B2BF-D4D3180D1ED7}"/>
              </a:ext>
            </a:extLst>
          </p:cNvPr>
          <p:cNvSpPr/>
          <p:nvPr/>
        </p:nvSpPr>
        <p:spPr>
          <a:xfrm>
            <a:off x="4153475" y="663701"/>
            <a:ext cx="4101337" cy="500332"/>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Segoe UI Black" panose="020B0A02040204020203" pitchFamily="34" charset="0"/>
                <a:ea typeface="Segoe UI Black" panose="020B0A02040204020203" pitchFamily="34" charset="0"/>
              </a:rPr>
              <a:t>Power BI Data Model</a:t>
            </a:r>
            <a:endParaRPr lang="en-NG" dirty="0">
              <a:latin typeface="Segoe UI Black" panose="020B0A02040204020203" pitchFamily="34" charset="0"/>
              <a:ea typeface="Segoe UI Black" panose="020B0A02040204020203" pitchFamily="34" charset="0"/>
            </a:endParaRPr>
          </a:p>
        </p:txBody>
      </p:sp>
      <p:pic>
        <p:nvPicPr>
          <p:cNvPr id="6" name="Picture 5">
            <a:extLst>
              <a:ext uri="{FF2B5EF4-FFF2-40B4-BE49-F238E27FC236}">
                <a16:creationId xmlns:a16="http://schemas.microsoft.com/office/drawing/2014/main" id="{0B64BF35-C466-4962-B596-38D7D654D3F7}"/>
              </a:ext>
            </a:extLst>
          </p:cNvPr>
          <p:cNvPicPr>
            <a:picLocks noChangeAspect="1"/>
          </p:cNvPicPr>
          <p:nvPr/>
        </p:nvPicPr>
        <p:blipFill>
          <a:blip r:embed="rId3"/>
          <a:stretch>
            <a:fillRect/>
          </a:stretch>
        </p:blipFill>
        <p:spPr>
          <a:xfrm>
            <a:off x="7137273" y="2046803"/>
            <a:ext cx="5091061" cy="4779180"/>
          </a:xfrm>
          <a:prstGeom prst="rect">
            <a:avLst/>
          </a:prstGeom>
        </p:spPr>
      </p:pic>
    </p:spTree>
    <p:extLst>
      <p:ext uri="{BB962C8B-B14F-4D97-AF65-F5344CB8AC3E}">
        <p14:creationId xmlns:p14="http://schemas.microsoft.com/office/powerpoint/2010/main" val="31602806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8104D"/>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B300744-4070-2BFE-FA39-60A3F0EF1936}"/>
              </a:ext>
            </a:extLst>
          </p:cNvPr>
          <p:cNvSpPr/>
          <p:nvPr/>
        </p:nvSpPr>
        <p:spPr>
          <a:xfrm>
            <a:off x="-16962" y="13930"/>
            <a:ext cx="859172" cy="6885859"/>
          </a:xfrm>
          <a:prstGeom prst="rect">
            <a:avLst/>
          </a:prstGeom>
          <a:solidFill>
            <a:srgbClr val="09115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C2024389-CC57-8D1E-FD9F-D81283781495}"/>
              </a:ext>
            </a:extLst>
          </p:cNvPr>
          <p:cNvSpPr/>
          <p:nvPr/>
        </p:nvSpPr>
        <p:spPr>
          <a:xfrm>
            <a:off x="868938" y="32016"/>
            <a:ext cx="11346980" cy="1312333"/>
          </a:xfrm>
          <a:prstGeom prst="roundRect">
            <a:avLst/>
          </a:prstGeom>
          <a:solidFill>
            <a:srgbClr val="081354"/>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2400" b="1" dirty="0">
                <a:latin typeface="Segoe UI"/>
                <a:ea typeface="+mn-lt"/>
                <a:cs typeface="Segoe UI"/>
              </a:rPr>
              <a:t>                        Healthcare Workforce Mental Health Dashboard</a:t>
            </a:r>
            <a:br>
              <a:rPr lang="en-US" sz="2400" b="1" dirty="0">
                <a:latin typeface="Segoe UI"/>
                <a:ea typeface="+mn-lt"/>
                <a:cs typeface="Segoe UI"/>
              </a:rPr>
            </a:br>
            <a:r>
              <a:rPr lang="en-US" sz="2400" b="1" dirty="0">
                <a:latin typeface="Segoe UI"/>
                <a:ea typeface="+mn-lt"/>
                <a:cs typeface="Segoe UI"/>
              </a:rPr>
              <a:t>			</a:t>
            </a:r>
            <a:endParaRPr lang="en-US" sz="1400" dirty="0"/>
          </a:p>
        </p:txBody>
      </p:sp>
      <p:pic>
        <p:nvPicPr>
          <p:cNvPr id="14" name="Picture 13" descr="A yellow tree with leaves in a blue background&#10;&#10;AI-generated content may be incorrect.">
            <a:extLst>
              <a:ext uri="{FF2B5EF4-FFF2-40B4-BE49-F238E27FC236}">
                <a16:creationId xmlns:a16="http://schemas.microsoft.com/office/drawing/2014/main" id="{F5B3D7ED-4F74-1695-76EA-A95EE34F4314}"/>
              </a:ext>
            </a:extLst>
          </p:cNvPr>
          <p:cNvPicPr>
            <a:picLocks noChangeAspect="1"/>
          </p:cNvPicPr>
          <p:nvPr/>
        </p:nvPicPr>
        <p:blipFill>
          <a:blip r:embed="rId2"/>
          <a:stretch>
            <a:fillRect/>
          </a:stretch>
        </p:blipFill>
        <p:spPr>
          <a:xfrm>
            <a:off x="2568227" y="32016"/>
            <a:ext cx="479299" cy="589112"/>
          </a:xfrm>
          <a:prstGeom prst="rect">
            <a:avLst/>
          </a:prstGeom>
        </p:spPr>
      </p:pic>
      <p:sp>
        <p:nvSpPr>
          <p:cNvPr id="3" name="Rectangle 2">
            <a:extLst>
              <a:ext uri="{FF2B5EF4-FFF2-40B4-BE49-F238E27FC236}">
                <a16:creationId xmlns:a16="http://schemas.microsoft.com/office/drawing/2014/main" id="{124B039C-6FD4-4D46-A7FB-BEC79B5F0DAC}"/>
              </a:ext>
            </a:extLst>
          </p:cNvPr>
          <p:cNvSpPr/>
          <p:nvPr/>
        </p:nvSpPr>
        <p:spPr>
          <a:xfrm>
            <a:off x="902852" y="1445980"/>
            <a:ext cx="5957977" cy="527576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latin typeface="Segoe UI Black" panose="020B0A02040204020203" pitchFamily="34" charset="0"/>
                <a:ea typeface="Segoe UI Black" panose="020B0A02040204020203" pitchFamily="34" charset="0"/>
              </a:rPr>
              <a:t>Key Insights</a:t>
            </a:r>
          </a:p>
          <a:p>
            <a:endParaRPr lang="en-US" b="1" dirty="0">
              <a:latin typeface="Segoe UI Black" panose="020B0A02040204020203" pitchFamily="34" charset="0"/>
              <a:ea typeface="Segoe UI Black" panose="020B0A02040204020203" pitchFamily="34" charset="0"/>
            </a:endParaRPr>
          </a:p>
          <a:p>
            <a:pPr marL="285750" indent="-285750">
              <a:buFont typeface="Arial" panose="020B0604020202020204" pitchFamily="34" charset="0"/>
              <a:buChar char="•"/>
            </a:pPr>
            <a:r>
              <a:rPr lang="en-US" dirty="0"/>
              <a:t>The average employee stress level is relatively high at 7.3. </a:t>
            </a:r>
          </a:p>
          <a:p>
            <a:pPr marL="285750" indent="-285750">
              <a:buFont typeface="Arial" panose="020B0604020202020204" pitchFamily="34" charset="0"/>
              <a:buChar char="•"/>
            </a:pPr>
            <a:r>
              <a:rPr lang="en-US" dirty="0"/>
              <a:t>Job satisfaction levels remain low across the workforce. </a:t>
            </a:r>
          </a:p>
          <a:p>
            <a:pPr marL="285750" indent="-285750">
              <a:buFont typeface="Arial" panose="020B0604020202020204" pitchFamily="34" charset="0"/>
              <a:buChar char="•"/>
            </a:pPr>
            <a:r>
              <a:rPr lang="en-US" dirty="0"/>
              <a:t>ICU and General Practice departments recorded the highest stress levels. </a:t>
            </a:r>
          </a:p>
          <a:p>
            <a:pPr marL="285750" indent="-285750">
              <a:buFont typeface="Arial" panose="020B0604020202020204" pitchFamily="34" charset="0"/>
              <a:buChar char="•"/>
            </a:pPr>
            <a:r>
              <a:rPr lang="en-US" dirty="0"/>
              <a:t>Mental health concerns continue to impact healthcare employees significantly. </a:t>
            </a:r>
          </a:p>
          <a:p>
            <a:pPr marL="285750" indent="-285750">
              <a:buFont typeface="Arial" panose="020B0604020202020204" pitchFamily="34" charset="0"/>
              <a:buChar char="•"/>
            </a:pPr>
            <a:r>
              <a:rPr lang="en-US" dirty="0"/>
              <a:t>Workforce distribution shows Registered Nurses represent the largest employee group.</a:t>
            </a:r>
          </a:p>
        </p:txBody>
      </p:sp>
      <p:sp>
        <p:nvSpPr>
          <p:cNvPr id="7" name="Rectangle 6">
            <a:extLst>
              <a:ext uri="{FF2B5EF4-FFF2-40B4-BE49-F238E27FC236}">
                <a16:creationId xmlns:a16="http://schemas.microsoft.com/office/drawing/2014/main" id="{F169876F-D0C3-446B-8C22-937A34869EF4}"/>
              </a:ext>
            </a:extLst>
          </p:cNvPr>
          <p:cNvSpPr/>
          <p:nvPr/>
        </p:nvSpPr>
        <p:spPr>
          <a:xfrm>
            <a:off x="7046792" y="2028530"/>
            <a:ext cx="5054105" cy="474608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G"/>
          </a:p>
        </p:txBody>
      </p:sp>
      <p:sp>
        <p:nvSpPr>
          <p:cNvPr id="5" name="Rectangle: Rounded Corners 4">
            <a:extLst>
              <a:ext uri="{FF2B5EF4-FFF2-40B4-BE49-F238E27FC236}">
                <a16:creationId xmlns:a16="http://schemas.microsoft.com/office/drawing/2014/main" id="{56286A1F-08C4-44E9-B2BF-D4D3180D1ED7}"/>
              </a:ext>
            </a:extLst>
          </p:cNvPr>
          <p:cNvSpPr/>
          <p:nvPr/>
        </p:nvSpPr>
        <p:spPr>
          <a:xfrm>
            <a:off x="4128338" y="557843"/>
            <a:ext cx="4101337" cy="500332"/>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Segoe UI Black" panose="020B0A02040204020203" pitchFamily="34" charset="0"/>
                <a:ea typeface="Segoe UI Black" panose="020B0A02040204020203" pitchFamily="34" charset="0"/>
              </a:rPr>
              <a:t>Workforce Overview Dashboard</a:t>
            </a:r>
            <a:endParaRPr lang="en-NG" dirty="0">
              <a:latin typeface="Segoe UI Black" panose="020B0A02040204020203" pitchFamily="34" charset="0"/>
              <a:ea typeface="Segoe UI Black" panose="020B0A02040204020203" pitchFamily="34" charset="0"/>
            </a:endParaRPr>
          </a:p>
        </p:txBody>
      </p:sp>
      <p:pic>
        <p:nvPicPr>
          <p:cNvPr id="12" name="Picture 11">
            <a:extLst>
              <a:ext uri="{FF2B5EF4-FFF2-40B4-BE49-F238E27FC236}">
                <a16:creationId xmlns:a16="http://schemas.microsoft.com/office/drawing/2014/main" id="{084A2B59-4834-4692-8D39-5DB4BF764506}"/>
              </a:ext>
            </a:extLst>
          </p:cNvPr>
          <p:cNvPicPr>
            <a:picLocks noChangeAspect="1"/>
          </p:cNvPicPr>
          <p:nvPr/>
        </p:nvPicPr>
        <p:blipFill>
          <a:blip r:embed="rId3"/>
          <a:stretch>
            <a:fillRect/>
          </a:stretch>
        </p:blipFill>
        <p:spPr>
          <a:xfrm>
            <a:off x="6969364" y="2500975"/>
            <a:ext cx="5258055" cy="4118361"/>
          </a:xfrm>
          <a:prstGeom prst="rect">
            <a:avLst/>
          </a:prstGeom>
        </p:spPr>
      </p:pic>
    </p:spTree>
    <p:extLst>
      <p:ext uri="{BB962C8B-B14F-4D97-AF65-F5344CB8AC3E}">
        <p14:creationId xmlns:p14="http://schemas.microsoft.com/office/powerpoint/2010/main" val="275827730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8104D"/>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B300744-4070-2BFE-FA39-60A3F0EF1936}"/>
              </a:ext>
            </a:extLst>
          </p:cNvPr>
          <p:cNvSpPr/>
          <p:nvPr/>
        </p:nvSpPr>
        <p:spPr>
          <a:xfrm>
            <a:off x="-16962" y="13930"/>
            <a:ext cx="859172" cy="6885859"/>
          </a:xfrm>
          <a:prstGeom prst="rect">
            <a:avLst/>
          </a:prstGeom>
          <a:solidFill>
            <a:srgbClr val="09115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C2024389-CC57-8D1E-FD9F-D81283781495}"/>
              </a:ext>
            </a:extLst>
          </p:cNvPr>
          <p:cNvSpPr/>
          <p:nvPr/>
        </p:nvSpPr>
        <p:spPr>
          <a:xfrm>
            <a:off x="868938" y="32016"/>
            <a:ext cx="11346980" cy="1478143"/>
          </a:xfrm>
          <a:prstGeom prst="roundRect">
            <a:avLst/>
          </a:prstGeom>
          <a:solidFill>
            <a:srgbClr val="081354"/>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2400" b="1" dirty="0">
                <a:latin typeface="Segoe UI"/>
                <a:ea typeface="+mn-lt"/>
                <a:cs typeface="Segoe UI"/>
              </a:rPr>
              <a:t>                        Healthcare Workforce Mental Health Dashboard</a:t>
            </a:r>
            <a:br>
              <a:rPr lang="en-US" sz="2400" b="1" dirty="0">
                <a:latin typeface="Segoe UI"/>
                <a:ea typeface="+mn-lt"/>
                <a:cs typeface="Segoe UI"/>
              </a:rPr>
            </a:br>
            <a:r>
              <a:rPr lang="en-US" sz="2400" b="1" dirty="0">
                <a:latin typeface="Segoe UI"/>
                <a:ea typeface="+mn-lt"/>
                <a:cs typeface="Segoe UI"/>
              </a:rPr>
              <a:t>			</a:t>
            </a:r>
            <a:endParaRPr lang="en-US" sz="1400" dirty="0"/>
          </a:p>
        </p:txBody>
      </p:sp>
      <p:pic>
        <p:nvPicPr>
          <p:cNvPr id="14" name="Picture 13" descr="A yellow tree with leaves in a blue background&#10;&#10;AI-generated content may be incorrect.">
            <a:extLst>
              <a:ext uri="{FF2B5EF4-FFF2-40B4-BE49-F238E27FC236}">
                <a16:creationId xmlns:a16="http://schemas.microsoft.com/office/drawing/2014/main" id="{F5B3D7ED-4F74-1695-76EA-A95EE34F4314}"/>
              </a:ext>
            </a:extLst>
          </p:cNvPr>
          <p:cNvPicPr>
            <a:picLocks noChangeAspect="1"/>
          </p:cNvPicPr>
          <p:nvPr/>
        </p:nvPicPr>
        <p:blipFill>
          <a:blip r:embed="rId2"/>
          <a:stretch>
            <a:fillRect/>
          </a:stretch>
        </p:blipFill>
        <p:spPr>
          <a:xfrm>
            <a:off x="2568227" y="32016"/>
            <a:ext cx="479299" cy="589112"/>
          </a:xfrm>
          <a:prstGeom prst="rect">
            <a:avLst/>
          </a:prstGeom>
        </p:spPr>
      </p:pic>
      <p:sp>
        <p:nvSpPr>
          <p:cNvPr id="3" name="Rectangle 2">
            <a:extLst>
              <a:ext uri="{FF2B5EF4-FFF2-40B4-BE49-F238E27FC236}">
                <a16:creationId xmlns:a16="http://schemas.microsoft.com/office/drawing/2014/main" id="{124B039C-6FD4-4D46-A7FB-BEC79B5F0DAC}"/>
              </a:ext>
            </a:extLst>
          </p:cNvPr>
          <p:cNvSpPr/>
          <p:nvPr/>
        </p:nvSpPr>
        <p:spPr>
          <a:xfrm>
            <a:off x="977660" y="1736785"/>
            <a:ext cx="5865963" cy="49918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latin typeface="Segoe UI Black" panose="020B0A02040204020203" pitchFamily="34" charset="0"/>
                <a:ea typeface="Segoe UI Black" panose="020B0A02040204020203" pitchFamily="34" charset="0"/>
              </a:rPr>
              <a:t>Key Insights</a:t>
            </a:r>
          </a:p>
          <a:p>
            <a:endParaRPr lang="en-US" b="1" dirty="0">
              <a:latin typeface="Segoe UI Black" panose="020B0A02040204020203" pitchFamily="34" charset="0"/>
              <a:ea typeface="Segoe UI Black" panose="020B0A02040204020203" pitchFamily="34" charset="0"/>
            </a:endParaRPr>
          </a:p>
          <a:p>
            <a:pPr marL="285750" indent="-285750">
              <a:buFont typeface="Arial" panose="020B0604020202020204" pitchFamily="34" charset="0"/>
              <a:buChar char="•"/>
            </a:pPr>
            <a:r>
              <a:rPr lang="en-US" dirty="0"/>
              <a:t>Heavy workload emerged as the most significant workplace stress factor. </a:t>
            </a:r>
          </a:p>
          <a:p>
            <a:pPr marL="285750" indent="-285750">
              <a:buFont typeface="Arial" panose="020B0604020202020204" pitchFamily="34" charset="0"/>
              <a:buChar char="•"/>
            </a:pPr>
            <a:r>
              <a:rPr lang="en-US" dirty="0"/>
              <a:t>Burnout occurs frequently among healthcare employees. </a:t>
            </a:r>
          </a:p>
          <a:p>
            <a:pPr marL="285750" indent="-285750">
              <a:buFont typeface="Arial" panose="020B0604020202020204" pitchFamily="34" charset="0"/>
              <a:buChar char="•"/>
            </a:pPr>
            <a:r>
              <a:rPr lang="en-US" dirty="0"/>
              <a:t>High stress levels are consistently observed across several professions. </a:t>
            </a:r>
          </a:p>
          <a:p>
            <a:pPr marL="285750" indent="-285750">
              <a:buFont typeface="Arial" panose="020B0604020202020204" pitchFamily="34" charset="0"/>
              <a:buChar char="•"/>
            </a:pPr>
            <a:r>
              <a:rPr lang="en-US" dirty="0"/>
              <a:t>Workplace factors such as workload, work-life imbalance, and safety concerns contribute significantly to employee stress. </a:t>
            </a:r>
          </a:p>
          <a:p>
            <a:pPr marL="285750" indent="-285750">
              <a:buFont typeface="Arial" panose="020B0604020202020204" pitchFamily="34" charset="0"/>
              <a:buChar char="•"/>
            </a:pPr>
            <a:r>
              <a:rPr lang="en-US" dirty="0"/>
              <a:t>Stress management interventions may help reduce burnout levels.</a:t>
            </a:r>
          </a:p>
        </p:txBody>
      </p:sp>
      <p:sp>
        <p:nvSpPr>
          <p:cNvPr id="7" name="Rectangle 6">
            <a:extLst>
              <a:ext uri="{FF2B5EF4-FFF2-40B4-BE49-F238E27FC236}">
                <a16:creationId xmlns:a16="http://schemas.microsoft.com/office/drawing/2014/main" id="{F169876F-D0C3-446B-8C22-937A34869EF4}"/>
              </a:ext>
            </a:extLst>
          </p:cNvPr>
          <p:cNvSpPr/>
          <p:nvPr/>
        </p:nvSpPr>
        <p:spPr>
          <a:xfrm>
            <a:off x="7025358" y="1782795"/>
            <a:ext cx="5075539" cy="499181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G"/>
          </a:p>
        </p:txBody>
      </p:sp>
      <p:sp>
        <p:nvSpPr>
          <p:cNvPr id="5" name="Rectangle: Rounded Corners 4">
            <a:extLst>
              <a:ext uri="{FF2B5EF4-FFF2-40B4-BE49-F238E27FC236}">
                <a16:creationId xmlns:a16="http://schemas.microsoft.com/office/drawing/2014/main" id="{56286A1F-08C4-44E9-B2BF-D4D3180D1ED7}"/>
              </a:ext>
            </a:extLst>
          </p:cNvPr>
          <p:cNvSpPr/>
          <p:nvPr/>
        </p:nvSpPr>
        <p:spPr>
          <a:xfrm>
            <a:off x="3643888" y="848264"/>
            <a:ext cx="4101337" cy="500332"/>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Segoe UI Black" panose="020B0A02040204020203" pitchFamily="34" charset="0"/>
                <a:ea typeface="Segoe UI Black" panose="020B0A02040204020203" pitchFamily="34" charset="0"/>
              </a:rPr>
              <a:t>Stress &amp; Burnout Analysis Dashboard</a:t>
            </a:r>
            <a:endParaRPr lang="en-NG" dirty="0">
              <a:latin typeface="Segoe UI Black" panose="020B0A02040204020203" pitchFamily="34" charset="0"/>
              <a:ea typeface="Segoe UI Black" panose="020B0A02040204020203" pitchFamily="34" charset="0"/>
            </a:endParaRPr>
          </a:p>
        </p:txBody>
      </p:sp>
      <p:pic>
        <p:nvPicPr>
          <p:cNvPr id="6" name="Picture 5">
            <a:extLst>
              <a:ext uri="{FF2B5EF4-FFF2-40B4-BE49-F238E27FC236}">
                <a16:creationId xmlns:a16="http://schemas.microsoft.com/office/drawing/2014/main" id="{FFD0FCAF-9804-4D95-AFEC-9B77BD16BE94}"/>
              </a:ext>
            </a:extLst>
          </p:cNvPr>
          <p:cNvPicPr>
            <a:picLocks noChangeAspect="1"/>
          </p:cNvPicPr>
          <p:nvPr/>
        </p:nvPicPr>
        <p:blipFill>
          <a:blip r:embed="rId3"/>
          <a:stretch>
            <a:fillRect/>
          </a:stretch>
        </p:blipFill>
        <p:spPr>
          <a:xfrm>
            <a:off x="7025358" y="3030748"/>
            <a:ext cx="5075539" cy="3697856"/>
          </a:xfrm>
          <a:prstGeom prst="rect">
            <a:avLst/>
          </a:prstGeom>
        </p:spPr>
      </p:pic>
    </p:spTree>
    <p:extLst>
      <p:ext uri="{BB962C8B-B14F-4D97-AF65-F5344CB8AC3E}">
        <p14:creationId xmlns:p14="http://schemas.microsoft.com/office/powerpoint/2010/main" val="4418043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8104D"/>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B300744-4070-2BFE-FA39-60A3F0EF1936}"/>
              </a:ext>
            </a:extLst>
          </p:cNvPr>
          <p:cNvSpPr/>
          <p:nvPr/>
        </p:nvSpPr>
        <p:spPr>
          <a:xfrm>
            <a:off x="-16962" y="13930"/>
            <a:ext cx="859172" cy="6885859"/>
          </a:xfrm>
          <a:prstGeom prst="rect">
            <a:avLst/>
          </a:prstGeom>
          <a:solidFill>
            <a:srgbClr val="09115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C2024389-CC57-8D1E-FD9F-D81283781495}"/>
              </a:ext>
            </a:extLst>
          </p:cNvPr>
          <p:cNvSpPr/>
          <p:nvPr/>
        </p:nvSpPr>
        <p:spPr>
          <a:xfrm>
            <a:off x="917382" y="83388"/>
            <a:ext cx="11346980" cy="1342611"/>
          </a:xfrm>
          <a:prstGeom prst="roundRect">
            <a:avLst/>
          </a:prstGeom>
          <a:solidFill>
            <a:srgbClr val="081354"/>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2400" b="1" dirty="0">
                <a:latin typeface="Segoe UI"/>
                <a:ea typeface="+mn-lt"/>
                <a:cs typeface="Segoe UI"/>
              </a:rPr>
              <a:t>                        Healthcare Workforce Mental Health Dashboard</a:t>
            </a:r>
            <a:br>
              <a:rPr lang="en-US" sz="2400" b="1" dirty="0">
                <a:latin typeface="Segoe UI"/>
                <a:ea typeface="+mn-lt"/>
                <a:cs typeface="Segoe UI"/>
              </a:rPr>
            </a:br>
            <a:r>
              <a:rPr lang="en-US" sz="2400" b="1" dirty="0">
                <a:latin typeface="Segoe UI"/>
                <a:ea typeface="+mn-lt"/>
                <a:cs typeface="Segoe UI"/>
              </a:rPr>
              <a:t>			</a:t>
            </a:r>
            <a:endParaRPr lang="en-US" sz="1400" dirty="0"/>
          </a:p>
        </p:txBody>
      </p:sp>
      <p:pic>
        <p:nvPicPr>
          <p:cNvPr id="14" name="Picture 13" descr="A yellow tree with leaves in a blue background&#10;&#10;AI-generated content may be incorrect.">
            <a:extLst>
              <a:ext uri="{FF2B5EF4-FFF2-40B4-BE49-F238E27FC236}">
                <a16:creationId xmlns:a16="http://schemas.microsoft.com/office/drawing/2014/main" id="{F5B3D7ED-4F74-1695-76EA-A95EE34F4314}"/>
              </a:ext>
            </a:extLst>
          </p:cNvPr>
          <p:cNvPicPr>
            <a:picLocks noChangeAspect="1"/>
          </p:cNvPicPr>
          <p:nvPr/>
        </p:nvPicPr>
        <p:blipFill>
          <a:blip r:embed="rId2"/>
          <a:stretch>
            <a:fillRect/>
          </a:stretch>
        </p:blipFill>
        <p:spPr>
          <a:xfrm>
            <a:off x="2568227" y="32016"/>
            <a:ext cx="479299" cy="589112"/>
          </a:xfrm>
          <a:prstGeom prst="rect">
            <a:avLst/>
          </a:prstGeom>
        </p:spPr>
      </p:pic>
      <p:sp>
        <p:nvSpPr>
          <p:cNvPr id="3" name="Rectangle 2">
            <a:extLst>
              <a:ext uri="{FF2B5EF4-FFF2-40B4-BE49-F238E27FC236}">
                <a16:creationId xmlns:a16="http://schemas.microsoft.com/office/drawing/2014/main" id="{124B039C-6FD4-4D46-A7FB-BEC79B5F0DAC}"/>
              </a:ext>
            </a:extLst>
          </p:cNvPr>
          <p:cNvSpPr/>
          <p:nvPr/>
        </p:nvSpPr>
        <p:spPr>
          <a:xfrm>
            <a:off x="995827" y="1662023"/>
            <a:ext cx="5865963" cy="49918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latin typeface="Segoe UI Black" panose="020B0A02040204020203" pitchFamily="34" charset="0"/>
                <a:ea typeface="Segoe UI Black" panose="020B0A02040204020203" pitchFamily="34" charset="0"/>
              </a:rPr>
              <a:t>Key Insights</a:t>
            </a:r>
          </a:p>
          <a:p>
            <a:endParaRPr lang="en-US" b="1" dirty="0">
              <a:latin typeface="Segoe UI Black" panose="020B0A02040204020203" pitchFamily="34" charset="0"/>
              <a:ea typeface="Segoe UI Black" panose="020B0A02040204020203" pitchFamily="34" charset="0"/>
            </a:endParaRPr>
          </a:p>
          <a:p>
            <a:pPr marL="285750" indent="-285750">
              <a:buFont typeface="Arial" panose="020B0604020202020204" pitchFamily="34" charset="0"/>
              <a:buChar char="•"/>
            </a:pPr>
            <a:r>
              <a:rPr lang="en-US" dirty="0"/>
              <a:t>Total mental health absences exceed 37,000 recorded absence days. </a:t>
            </a:r>
          </a:p>
          <a:p>
            <a:pPr marL="285750" indent="-285750">
              <a:buFont typeface="Arial" panose="020B0604020202020204" pitchFamily="34" charset="0"/>
              <a:buChar char="•"/>
            </a:pPr>
            <a:r>
              <a:rPr lang="en-US" dirty="0"/>
              <a:t>Approximately 66.7% of employees indicated turnover intention. </a:t>
            </a:r>
          </a:p>
          <a:p>
            <a:pPr marL="285750" indent="-285750">
              <a:buFont typeface="Arial" panose="020B0604020202020204" pitchFamily="34" charset="0"/>
              <a:buChar char="•"/>
            </a:pPr>
            <a:r>
              <a:rPr lang="en-US" dirty="0"/>
              <a:t>Employees experience an average of 7.4 mental health absence days. </a:t>
            </a:r>
          </a:p>
          <a:p>
            <a:pPr marL="285750" indent="-285750">
              <a:buFont typeface="Arial" panose="020B0604020202020204" pitchFamily="34" charset="0"/>
              <a:buChar char="•"/>
            </a:pPr>
            <a:r>
              <a:rPr lang="en-US" dirty="0"/>
              <a:t>Most employees have access to Employee Assistance Programs (EAPs). </a:t>
            </a:r>
          </a:p>
          <a:p>
            <a:pPr marL="285750" indent="-285750">
              <a:buFont typeface="Arial" panose="020B0604020202020204" pitchFamily="34" charset="0"/>
              <a:buChar char="•"/>
            </a:pPr>
            <a:r>
              <a:rPr lang="en-US" dirty="0"/>
              <a:t>Certain departments experience higher absence levels than others.</a:t>
            </a:r>
          </a:p>
        </p:txBody>
      </p:sp>
      <p:sp>
        <p:nvSpPr>
          <p:cNvPr id="7" name="Rectangle 6">
            <a:extLst>
              <a:ext uri="{FF2B5EF4-FFF2-40B4-BE49-F238E27FC236}">
                <a16:creationId xmlns:a16="http://schemas.microsoft.com/office/drawing/2014/main" id="{F169876F-D0C3-446B-8C22-937A34869EF4}"/>
              </a:ext>
            </a:extLst>
          </p:cNvPr>
          <p:cNvSpPr/>
          <p:nvPr/>
        </p:nvSpPr>
        <p:spPr>
          <a:xfrm>
            <a:off x="7251940" y="2028530"/>
            <a:ext cx="4848957" cy="474608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G"/>
          </a:p>
        </p:txBody>
      </p:sp>
      <p:sp>
        <p:nvSpPr>
          <p:cNvPr id="5" name="Rectangle: Rounded Corners 4">
            <a:extLst>
              <a:ext uri="{FF2B5EF4-FFF2-40B4-BE49-F238E27FC236}">
                <a16:creationId xmlns:a16="http://schemas.microsoft.com/office/drawing/2014/main" id="{56286A1F-08C4-44E9-B2BF-D4D3180D1ED7}"/>
              </a:ext>
            </a:extLst>
          </p:cNvPr>
          <p:cNvSpPr/>
          <p:nvPr/>
        </p:nvSpPr>
        <p:spPr>
          <a:xfrm>
            <a:off x="3751415" y="723843"/>
            <a:ext cx="4101337" cy="500332"/>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Segoe UI Black" panose="020B0A02040204020203" pitchFamily="34" charset="0"/>
                <a:ea typeface="Segoe UI Black" panose="020B0A02040204020203" pitchFamily="34" charset="0"/>
              </a:rPr>
              <a:t>Absenteeism &amp; Retention Dashboard</a:t>
            </a:r>
            <a:endParaRPr lang="en-NG" dirty="0">
              <a:latin typeface="Segoe UI Black" panose="020B0A02040204020203" pitchFamily="34" charset="0"/>
              <a:ea typeface="Segoe UI Black" panose="020B0A02040204020203" pitchFamily="34" charset="0"/>
            </a:endParaRPr>
          </a:p>
        </p:txBody>
      </p:sp>
      <p:pic>
        <p:nvPicPr>
          <p:cNvPr id="2" name="Picture 1">
            <a:extLst>
              <a:ext uri="{FF2B5EF4-FFF2-40B4-BE49-F238E27FC236}">
                <a16:creationId xmlns:a16="http://schemas.microsoft.com/office/drawing/2014/main" id="{6AA9A29B-4D5C-41A3-9451-1BBE3EEB4F2A}"/>
              </a:ext>
            </a:extLst>
          </p:cNvPr>
          <p:cNvPicPr>
            <a:picLocks noChangeAspect="1"/>
          </p:cNvPicPr>
          <p:nvPr/>
        </p:nvPicPr>
        <p:blipFill>
          <a:blip r:embed="rId3"/>
          <a:stretch>
            <a:fillRect/>
          </a:stretch>
        </p:blipFill>
        <p:spPr>
          <a:xfrm>
            <a:off x="6918385" y="2403894"/>
            <a:ext cx="5290868" cy="4419059"/>
          </a:xfrm>
          <a:prstGeom prst="rect">
            <a:avLst/>
          </a:prstGeom>
        </p:spPr>
      </p:pic>
    </p:spTree>
    <p:extLst>
      <p:ext uri="{BB962C8B-B14F-4D97-AF65-F5344CB8AC3E}">
        <p14:creationId xmlns:p14="http://schemas.microsoft.com/office/powerpoint/2010/main" val="3335572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8104D"/>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B300744-4070-2BFE-FA39-60A3F0EF1936}"/>
              </a:ext>
            </a:extLst>
          </p:cNvPr>
          <p:cNvSpPr/>
          <p:nvPr/>
        </p:nvSpPr>
        <p:spPr>
          <a:xfrm>
            <a:off x="-16962" y="13930"/>
            <a:ext cx="859172" cy="6885859"/>
          </a:xfrm>
          <a:prstGeom prst="rect">
            <a:avLst/>
          </a:prstGeom>
          <a:solidFill>
            <a:srgbClr val="09115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C2024389-CC57-8D1E-FD9F-D81283781495}"/>
              </a:ext>
            </a:extLst>
          </p:cNvPr>
          <p:cNvSpPr/>
          <p:nvPr/>
        </p:nvSpPr>
        <p:spPr>
          <a:xfrm>
            <a:off x="845020" y="55247"/>
            <a:ext cx="11346980" cy="1233610"/>
          </a:xfrm>
          <a:prstGeom prst="roundRect">
            <a:avLst/>
          </a:prstGeom>
          <a:solidFill>
            <a:srgbClr val="081354"/>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2400" b="1" dirty="0">
                <a:latin typeface="Segoe UI"/>
                <a:ea typeface="+mn-lt"/>
                <a:cs typeface="Segoe UI"/>
              </a:rPr>
              <a:t>                        Healthcare Workforce Mental Health Dashboard</a:t>
            </a:r>
            <a:br>
              <a:rPr lang="en-US" sz="2400" b="1" dirty="0">
                <a:latin typeface="Segoe UI"/>
                <a:ea typeface="+mn-lt"/>
                <a:cs typeface="Segoe UI"/>
              </a:rPr>
            </a:br>
            <a:r>
              <a:rPr lang="en-US" sz="2400" b="1" dirty="0">
                <a:latin typeface="Segoe UI"/>
                <a:ea typeface="+mn-lt"/>
                <a:cs typeface="Segoe UI"/>
              </a:rPr>
              <a:t>			</a:t>
            </a:r>
            <a:endParaRPr lang="en-US" sz="1400" dirty="0"/>
          </a:p>
        </p:txBody>
      </p:sp>
      <p:pic>
        <p:nvPicPr>
          <p:cNvPr id="14" name="Picture 13" descr="A yellow tree with leaves in a blue background&#10;&#10;AI-generated content may be incorrect.">
            <a:extLst>
              <a:ext uri="{FF2B5EF4-FFF2-40B4-BE49-F238E27FC236}">
                <a16:creationId xmlns:a16="http://schemas.microsoft.com/office/drawing/2014/main" id="{F5B3D7ED-4F74-1695-76EA-A95EE34F4314}"/>
              </a:ext>
            </a:extLst>
          </p:cNvPr>
          <p:cNvPicPr>
            <a:picLocks noChangeAspect="1"/>
          </p:cNvPicPr>
          <p:nvPr/>
        </p:nvPicPr>
        <p:blipFill>
          <a:blip r:embed="rId2"/>
          <a:stretch>
            <a:fillRect/>
          </a:stretch>
        </p:blipFill>
        <p:spPr>
          <a:xfrm>
            <a:off x="2568227" y="32016"/>
            <a:ext cx="479299" cy="589112"/>
          </a:xfrm>
          <a:prstGeom prst="rect">
            <a:avLst/>
          </a:prstGeom>
        </p:spPr>
      </p:pic>
      <p:sp>
        <p:nvSpPr>
          <p:cNvPr id="3" name="Rectangle 2">
            <a:extLst>
              <a:ext uri="{FF2B5EF4-FFF2-40B4-BE49-F238E27FC236}">
                <a16:creationId xmlns:a16="http://schemas.microsoft.com/office/drawing/2014/main" id="{124B039C-6FD4-4D46-A7FB-BEC79B5F0DAC}"/>
              </a:ext>
            </a:extLst>
          </p:cNvPr>
          <p:cNvSpPr/>
          <p:nvPr/>
        </p:nvSpPr>
        <p:spPr>
          <a:xfrm>
            <a:off x="1155024" y="1782793"/>
            <a:ext cx="5865963" cy="499181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b="1" dirty="0">
                <a:latin typeface="Segoe UI Black" panose="020B0A02040204020203" pitchFamily="34" charset="0"/>
                <a:ea typeface="Segoe UI Black" panose="020B0A02040204020203" pitchFamily="34" charset="0"/>
              </a:rPr>
              <a:t>Improve Employee Mental Health Support</a:t>
            </a:r>
          </a:p>
          <a:p>
            <a:endParaRPr lang="en-US" b="1" dirty="0">
              <a:latin typeface="Segoe UI Black" panose="020B0A02040204020203" pitchFamily="34" charset="0"/>
              <a:ea typeface="Segoe UI Black" panose="020B0A02040204020203" pitchFamily="34" charset="0"/>
            </a:endParaRPr>
          </a:p>
          <a:p>
            <a:pPr marL="285750" indent="-285750">
              <a:buFont typeface="Arial" panose="020B0604020202020204" pitchFamily="34" charset="0"/>
              <a:buChar char="•"/>
            </a:pPr>
            <a:r>
              <a:rPr lang="en-US" dirty="0"/>
              <a:t>Expand Employee Assistance Programs (EAPs). </a:t>
            </a:r>
          </a:p>
          <a:p>
            <a:pPr marL="285750" indent="-285750">
              <a:buFont typeface="Arial" panose="020B0604020202020204" pitchFamily="34" charset="0"/>
              <a:buChar char="•"/>
            </a:pPr>
            <a:r>
              <a:rPr lang="en-US" dirty="0"/>
              <a:t>Increase access to mental health counseling services.</a:t>
            </a:r>
          </a:p>
          <a:p>
            <a:r>
              <a:rPr lang="en-US" dirty="0"/>
              <a:t> </a:t>
            </a:r>
          </a:p>
          <a:p>
            <a:r>
              <a:rPr lang="en-US" b="1" dirty="0">
                <a:latin typeface="Segoe UI Black" panose="020B0A02040204020203" pitchFamily="34" charset="0"/>
                <a:ea typeface="Segoe UI Black" panose="020B0A02040204020203" pitchFamily="34" charset="0"/>
              </a:rPr>
              <a:t>Reduce Workplace Stress</a:t>
            </a:r>
          </a:p>
          <a:p>
            <a:pPr marL="285750" indent="-285750">
              <a:buFont typeface="Arial" panose="020B0604020202020204" pitchFamily="34" charset="0"/>
              <a:buChar char="•"/>
            </a:pPr>
            <a:r>
              <a:rPr lang="en-US" dirty="0"/>
              <a:t>Address heavy workload concerns. </a:t>
            </a:r>
          </a:p>
          <a:p>
            <a:pPr marL="285750" indent="-285750">
              <a:buFont typeface="Arial" panose="020B0604020202020204" pitchFamily="34" charset="0"/>
              <a:buChar char="•"/>
            </a:pPr>
            <a:r>
              <a:rPr lang="en-US" dirty="0"/>
              <a:t>Improve staffing levels in high-pressure departments.</a:t>
            </a:r>
          </a:p>
          <a:p>
            <a:r>
              <a:rPr lang="en-US" dirty="0"/>
              <a:t> </a:t>
            </a:r>
          </a:p>
          <a:p>
            <a:r>
              <a:rPr lang="en-US" b="1" dirty="0">
                <a:latin typeface="Segoe UI Black" panose="020B0A02040204020203" pitchFamily="34" charset="0"/>
                <a:ea typeface="Segoe UI Black" panose="020B0A02040204020203" pitchFamily="34" charset="0"/>
              </a:rPr>
              <a:t>Strengthen Burnout Prevention Programs</a:t>
            </a:r>
          </a:p>
          <a:p>
            <a:pPr marL="285750" indent="-285750">
              <a:buFont typeface="Arial" panose="020B0604020202020204" pitchFamily="34" charset="0"/>
              <a:buChar char="•"/>
            </a:pPr>
            <a:r>
              <a:rPr lang="en-US" dirty="0"/>
              <a:t>Introduce wellness initiatives. </a:t>
            </a:r>
          </a:p>
          <a:p>
            <a:pPr marL="285750" indent="-285750">
              <a:buFont typeface="Arial" panose="020B0604020202020204" pitchFamily="34" charset="0"/>
              <a:buChar char="•"/>
            </a:pPr>
            <a:r>
              <a:rPr lang="en-US" dirty="0"/>
              <a:t>Promote work-life balance policies. </a:t>
            </a:r>
          </a:p>
          <a:p>
            <a:endParaRPr lang="en-US" dirty="0"/>
          </a:p>
          <a:p>
            <a:r>
              <a:rPr lang="en-US" b="1" dirty="0">
                <a:latin typeface="Segoe UI Black" panose="020B0A02040204020203" pitchFamily="34" charset="0"/>
                <a:ea typeface="Segoe UI Black" panose="020B0A02040204020203" pitchFamily="34" charset="0"/>
              </a:rPr>
              <a:t>Improve Employee Retention</a:t>
            </a:r>
          </a:p>
          <a:p>
            <a:pPr marL="285750" indent="-285750">
              <a:buFont typeface="Arial" panose="020B0604020202020204" pitchFamily="34" charset="0"/>
              <a:buChar char="•"/>
            </a:pPr>
            <a:r>
              <a:rPr lang="en-US" dirty="0"/>
              <a:t>Increase employee engagement programs. </a:t>
            </a:r>
          </a:p>
          <a:p>
            <a:pPr marL="285750" indent="-285750">
              <a:buFont typeface="Arial" panose="020B0604020202020204" pitchFamily="34" charset="0"/>
              <a:buChar char="•"/>
            </a:pPr>
            <a:r>
              <a:rPr lang="en-US" dirty="0"/>
              <a:t>Enhance career development opportunities. </a:t>
            </a:r>
          </a:p>
          <a:p>
            <a:pPr marL="285750" indent="-285750">
              <a:buFont typeface="Arial" panose="020B0604020202020204" pitchFamily="34" charset="0"/>
              <a:buChar char="•"/>
            </a:pPr>
            <a:r>
              <a:rPr lang="en-US" dirty="0"/>
              <a:t>Conduct regular employee satisfaction assessments.</a:t>
            </a:r>
          </a:p>
        </p:txBody>
      </p:sp>
      <p:sp>
        <p:nvSpPr>
          <p:cNvPr id="7" name="Rectangle 6">
            <a:extLst>
              <a:ext uri="{FF2B5EF4-FFF2-40B4-BE49-F238E27FC236}">
                <a16:creationId xmlns:a16="http://schemas.microsoft.com/office/drawing/2014/main" id="{F169876F-D0C3-446B-8C22-937A34869EF4}"/>
              </a:ext>
            </a:extLst>
          </p:cNvPr>
          <p:cNvSpPr/>
          <p:nvPr/>
        </p:nvSpPr>
        <p:spPr>
          <a:xfrm>
            <a:off x="7251940" y="2028530"/>
            <a:ext cx="4848957" cy="474608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G"/>
          </a:p>
        </p:txBody>
      </p:sp>
      <p:sp>
        <p:nvSpPr>
          <p:cNvPr id="5" name="Rectangle: Rounded Corners 4">
            <a:extLst>
              <a:ext uri="{FF2B5EF4-FFF2-40B4-BE49-F238E27FC236}">
                <a16:creationId xmlns:a16="http://schemas.microsoft.com/office/drawing/2014/main" id="{56286A1F-08C4-44E9-B2BF-D4D3180D1ED7}"/>
              </a:ext>
            </a:extLst>
          </p:cNvPr>
          <p:cNvSpPr/>
          <p:nvPr/>
        </p:nvSpPr>
        <p:spPr>
          <a:xfrm>
            <a:off x="3607554" y="611191"/>
            <a:ext cx="4101337" cy="500332"/>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b="1" dirty="0">
                <a:latin typeface="Segoe UI Black" panose="020B0A02040204020203" pitchFamily="34" charset="0"/>
                <a:ea typeface="Segoe UI Black" panose="020B0A02040204020203" pitchFamily="34" charset="0"/>
              </a:rPr>
              <a:t>Recommendations</a:t>
            </a:r>
            <a:endParaRPr lang="en-NG" b="1" dirty="0">
              <a:latin typeface="Segoe UI Black" panose="020B0A02040204020203" pitchFamily="34" charset="0"/>
              <a:ea typeface="Segoe UI Black" panose="020B0A02040204020203" pitchFamily="34" charset="0"/>
            </a:endParaRPr>
          </a:p>
        </p:txBody>
      </p:sp>
      <p:pic>
        <p:nvPicPr>
          <p:cNvPr id="9" name="Picture 8">
            <a:extLst>
              <a:ext uri="{FF2B5EF4-FFF2-40B4-BE49-F238E27FC236}">
                <a16:creationId xmlns:a16="http://schemas.microsoft.com/office/drawing/2014/main" id="{8E2EC756-2A38-411F-8E2E-00F54312817E}"/>
              </a:ext>
            </a:extLst>
          </p:cNvPr>
          <p:cNvPicPr>
            <a:picLocks noChangeAspect="1"/>
          </p:cNvPicPr>
          <p:nvPr/>
        </p:nvPicPr>
        <p:blipFill>
          <a:blip r:embed="rId3"/>
          <a:stretch>
            <a:fillRect/>
          </a:stretch>
        </p:blipFill>
        <p:spPr>
          <a:xfrm>
            <a:off x="7106902" y="1782793"/>
            <a:ext cx="5139031" cy="4846156"/>
          </a:xfrm>
          <a:prstGeom prst="rect">
            <a:avLst/>
          </a:prstGeom>
        </p:spPr>
      </p:pic>
    </p:spTree>
    <p:extLst>
      <p:ext uri="{BB962C8B-B14F-4D97-AF65-F5344CB8AC3E}">
        <p14:creationId xmlns:p14="http://schemas.microsoft.com/office/powerpoint/2010/main" val="4834634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8104D"/>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1B300744-4070-2BFE-FA39-60A3F0EF1936}"/>
              </a:ext>
            </a:extLst>
          </p:cNvPr>
          <p:cNvSpPr/>
          <p:nvPr/>
        </p:nvSpPr>
        <p:spPr>
          <a:xfrm>
            <a:off x="-16962" y="13930"/>
            <a:ext cx="859172" cy="6885859"/>
          </a:xfrm>
          <a:prstGeom prst="rect">
            <a:avLst/>
          </a:prstGeom>
          <a:solidFill>
            <a:srgbClr val="09115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Rounded Corners 7">
            <a:extLst>
              <a:ext uri="{FF2B5EF4-FFF2-40B4-BE49-F238E27FC236}">
                <a16:creationId xmlns:a16="http://schemas.microsoft.com/office/drawing/2014/main" id="{C2024389-CC57-8D1E-FD9F-D81283781495}"/>
              </a:ext>
            </a:extLst>
          </p:cNvPr>
          <p:cNvSpPr/>
          <p:nvPr/>
        </p:nvSpPr>
        <p:spPr>
          <a:xfrm>
            <a:off x="850771" y="32017"/>
            <a:ext cx="11346980" cy="1026158"/>
          </a:xfrm>
          <a:prstGeom prst="roundRect">
            <a:avLst/>
          </a:prstGeom>
          <a:solidFill>
            <a:srgbClr val="081354"/>
          </a:solidFill>
          <a:ln>
            <a:noFill/>
          </a:ln>
        </p:spPr>
        <p:style>
          <a:lnRef idx="2">
            <a:schemeClr val="accent1">
              <a:shade val="15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r>
              <a:rPr lang="en-US" sz="2400" b="1" dirty="0">
                <a:latin typeface="Segoe UI"/>
                <a:ea typeface="+mn-lt"/>
                <a:cs typeface="Segoe UI"/>
              </a:rPr>
              <a:t>                        Healthcare Workforce Mental Health Dashboard</a:t>
            </a:r>
            <a:br>
              <a:rPr lang="en-US" sz="2400" b="1" dirty="0">
                <a:latin typeface="Segoe UI"/>
                <a:ea typeface="+mn-lt"/>
                <a:cs typeface="Segoe UI"/>
              </a:rPr>
            </a:br>
            <a:r>
              <a:rPr lang="en-US" sz="2400" b="1" dirty="0">
                <a:latin typeface="Segoe UI"/>
                <a:ea typeface="+mn-lt"/>
                <a:cs typeface="Segoe UI"/>
              </a:rPr>
              <a:t>			</a:t>
            </a:r>
            <a:endParaRPr lang="en-US" sz="1400" dirty="0"/>
          </a:p>
        </p:txBody>
      </p:sp>
      <p:pic>
        <p:nvPicPr>
          <p:cNvPr id="14" name="Picture 13" descr="A yellow tree with leaves in a blue background&#10;&#10;AI-generated content may be incorrect.">
            <a:extLst>
              <a:ext uri="{FF2B5EF4-FFF2-40B4-BE49-F238E27FC236}">
                <a16:creationId xmlns:a16="http://schemas.microsoft.com/office/drawing/2014/main" id="{F5B3D7ED-4F74-1695-76EA-A95EE34F4314}"/>
              </a:ext>
            </a:extLst>
          </p:cNvPr>
          <p:cNvPicPr>
            <a:picLocks noChangeAspect="1"/>
          </p:cNvPicPr>
          <p:nvPr/>
        </p:nvPicPr>
        <p:blipFill>
          <a:blip r:embed="rId2"/>
          <a:stretch>
            <a:fillRect/>
          </a:stretch>
        </p:blipFill>
        <p:spPr>
          <a:xfrm>
            <a:off x="2568227" y="32016"/>
            <a:ext cx="479299" cy="589112"/>
          </a:xfrm>
          <a:prstGeom prst="rect">
            <a:avLst/>
          </a:prstGeom>
        </p:spPr>
      </p:pic>
      <p:sp>
        <p:nvSpPr>
          <p:cNvPr id="3" name="Rectangle 2">
            <a:extLst>
              <a:ext uri="{FF2B5EF4-FFF2-40B4-BE49-F238E27FC236}">
                <a16:creationId xmlns:a16="http://schemas.microsoft.com/office/drawing/2014/main" id="{124B039C-6FD4-4D46-A7FB-BEC79B5F0DAC}"/>
              </a:ext>
            </a:extLst>
          </p:cNvPr>
          <p:cNvSpPr/>
          <p:nvPr/>
        </p:nvSpPr>
        <p:spPr>
          <a:xfrm>
            <a:off x="1219200" y="1880559"/>
            <a:ext cx="5485485" cy="365185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dirty="0"/>
              <a:t>This project successfully analyzed healthcare workforce mental health indicators using SQL and Power BI.</a:t>
            </a:r>
            <a:br>
              <a:rPr lang="en-US" dirty="0"/>
            </a:br>
            <a:endParaRPr lang="en-US" dirty="0"/>
          </a:p>
          <a:p>
            <a:r>
              <a:rPr lang="en-US" dirty="0"/>
              <a:t>The findings reveal elevated stress levels, frequent burnout cases, significant mental health absences, and notable turnover intention among healthcare employees.</a:t>
            </a:r>
            <a:br>
              <a:rPr lang="en-US" dirty="0"/>
            </a:br>
            <a:endParaRPr lang="en-US" dirty="0"/>
          </a:p>
          <a:p>
            <a:r>
              <a:rPr lang="en-US" dirty="0"/>
              <a:t>Organizations can improve employee wellbeing and workforce stability by implementing targeted mental health support programs, reducing workplace stressors, and strengthening employee retention strategies.</a:t>
            </a:r>
          </a:p>
        </p:txBody>
      </p:sp>
      <p:sp>
        <p:nvSpPr>
          <p:cNvPr id="7" name="Rectangle 6">
            <a:extLst>
              <a:ext uri="{FF2B5EF4-FFF2-40B4-BE49-F238E27FC236}">
                <a16:creationId xmlns:a16="http://schemas.microsoft.com/office/drawing/2014/main" id="{F169876F-D0C3-446B-8C22-937A34869EF4}"/>
              </a:ext>
            </a:extLst>
          </p:cNvPr>
          <p:cNvSpPr/>
          <p:nvPr/>
        </p:nvSpPr>
        <p:spPr>
          <a:xfrm>
            <a:off x="7251940" y="2028530"/>
            <a:ext cx="4848957" cy="474608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NG"/>
          </a:p>
        </p:txBody>
      </p:sp>
      <p:sp>
        <p:nvSpPr>
          <p:cNvPr id="5" name="Rectangle: Rounded Corners 4">
            <a:extLst>
              <a:ext uri="{FF2B5EF4-FFF2-40B4-BE49-F238E27FC236}">
                <a16:creationId xmlns:a16="http://schemas.microsoft.com/office/drawing/2014/main" id="{56286A1F-08C4-44E9-B2BF-D4D3180D1ED7}"/>
              </a:ext>
            </a:extLst>
          </p:cNvPr>
          <p:cNvSpPr/>
          <p:nvPr/>
        </p:nvSpPr>
        <p:spPr>
          <a:xfrm>
            <a:off x="4154161" y="621128"/>
            <a:ext cx="3421431" cy="301029"/>
          </a:xfrm>
          <a:prstGeom prst="round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latin typeface="Segoe UI Black" panose="020B0A02040204020203" pitchFamily="34" charset="0"/>
                <a:ea typeface="Segoe UI Black" panose="020B0A02040204020203" pitchFamily="34" charset="0"/>
              </a:rPr>
              <a:t>Conclusion</a:t>
            </a:r>
            <a:endParaRPr lang="en-NG" sz="2400" dirty="0">
              <a:latin typeface="Segoe UI Black" panose="020B0A02040204020203" pitchFamily="34" charset="0"/>
              <a:ea typeface="Segoe UI Black" panose="020B0A02040204020203" pitchFamily="34" charset="0"/>
            </a:endParaRPr>
          </a:p>
        </p:txBody>
      </p:sp>
      <p:pic>
        <p:nvPicPr>
          <p:cNvPr id="10" name="Picture 9">
            <a:extLst>
              <a:ext uri="{FF2B5EF4-FFF2-40B4-BE49-F238E27FC236}">
                <a16:creationId xmlns:a16="http://schemas.microsoft.com/office/drawing/2014/main" id="{B1AEE0B7-7E03-4F98-B743-9B8708EA8ADF}"/>
              </a:ext>
            </a:extLst>
          </p:cNvPr>
          <p:cNvPicPr>
            <a:picLocks noChangeAspect="1"/>
          </p:cNvPicPr>
          <p:nvPr/>
        </p:nvPicPr>
        <p:blipFill>
          <a:blip r:embed="rId3"/>
          <a:stretch>
            <a:fillRect/>
          </a:stretch>
        </p:blipFill>
        <p:spPr>
          <a:xfrm>
            <a:off x="7081675" y="2010574"/>
            <a:ext cx="5062100" cy="3981909"/>
          </a:xfrm>
          <a:prstGeom prst="rect">
            <a:avLst/>
          </a:prstGeom>
        </p:spPr>
      </p:pic>
    </p:spTree>
    <p:extLst>
      <p:ext uri="{BB962C8B-B14F-4D97-AF65-F5344CB8AC3E}">
        <p14:creationId xmlns:p14="http://schemas.microsoft.com/office/powerpoint/2010/main" val="11093134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3000</TotalTime>
  <Words>884</Words>
  <Application>Microsoft Office PowerPoint</Application>
  <PresentationFormat>Widescreen</PresentationFormat>
  <Paragraphs>127</Paragraphs>
  <Slides>11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Aptos</vt:lpstr>
      <vt:lpstr>Aptos Display</vt:lpstr>
      <vt:lpstr>Arial</vt:lpstr>
      <vt:lpstr>Segoe UI</vt:lpstr>
      <vt:lpstr>Segoe UI Black</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FORTUNE</dc:creator>
  <cp:lastModifiedBy>FORTUNE</cp:lastModifiedBy>
  <cp:revision>44</cp:revision>
  <dcterms:created xsi:type="dcterms:W3CDTF">2013-07-15T20:26:40Z</dcterms:created>
  <dcterms:modified xsi:type="dcterms:W3CDTF">2026-06-12T17:52:28Z</dcterms:modified>
</cp:coreProperties>
</file>